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批發零售業</c:v>
                </c:pt>
                <c:pt idx="2">
                  <c:v>傳統製造業</c:v>
                </c:pt>
                <c:pt idx="3">
                  <c:v>專業科學及技術服務業</c:v>
                </c:pt>
                <c:pt idx="4">
                  <c:v>服務業</c:v>
                </c:pt>
                <c:pt idx="5">
                  <c:v>醫療保健業</c:v>
                </c:pt>
                <c:pt idx="6">
                  <c:v>住宿及餐飲業</c:v>
                </c:pt>
                <c:pt idx="7">
                  <c:v>資通訊業</c:v>
                </c:pt>
                <c:pt idx="8">
                  <c:v>金融業</c:v>
                </c:pt>
                <c:pt idx="9">
                  <c:v>政府教育單位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34</c:v>
                </c:pt>
                <c:pt idx="1">
                  <c:v>153</c:v>
                </c:pt>
                <c:pt idx="2">
                  <c:v>182</c:v>
                </c:pt>
                <c:pt idx="3">
                  <c:v>194</c:v>
                </c:pt>
                <c:pt idx="4">
                  <c:v>263</c:v>
                </c:pt>
                <c:pt idx="5">
                  <c:v>320</c:v>
                </c:pt>
                <c:pt idx="6">
                  <c:v>328</c:v>
                </c:pt>
                <c:pt idx="7">
                  <c:v>380</c:v>
                </c:pt>
                <c:pt idx="8">
                  <c:v>679</c:v>
                </c:pt>
                <c:pt idx="9">
                  <c:v>829</c:v>
                </c:pt>
                <c:pt idx="10">
                  <c:v>1048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</c:v>
                </c:pt>
                <c:pt idx="1">
                  <c:v>24</c:v>
                </c:pt>
                <c:pt idx="2">
                  <c:v>5</c:v>
                </c:pt>
                <c:pt idx="3">
                  <c:v>2</c:v>
                </c:pt>
                <c:pt idx="4">
                  <c:v>11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超微</c:v>
                </c:pt>
                <c:pt idx="4">
                  <c:v>三星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248</c:v>
                </c:pt>
                <c:pt idx="1">
                  <c:v>118</c:v>
                </c:pt>
                <c:pt idx="2">
                  <c:v>46</c:v>
                </c:pt>
                <c:pt idx="3">
                  <c:v>42</c:v>
                </c:pt>
                <c:pt idx="4">
                  <c:v>39</c:v>
                </c:pt>
                <c:pt idx="5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超微</c:v>
                </c:pt>
                <c:pt idx="4">
                  <c:v>三星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258</c:v>
                </c:pt>
                <c:pt idx="1">
                  <c:v>128</c:v>
                </c:pt>
                <c:pt idx="2">
                  <c:v>53</c:v>
                </c:pt>
                <c:pt idx="3">
                  <c:v>36</c:v>
                </c:pt>
                <c:pt idx="4">
                  <c:v>61</c:v>
                </c:pt>
                <c:pt idx="5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報告期間:2026-10-05 ~ 2026-10-12</a:t>
            </a:r>
          </a:p>
          <a:p>
            <a:r>
              <a:t>產出:2026-10-12 19:58(台北時間)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9342 篇公開報導,可歸類 4410 篇</a:t>
            </a:r>
          </a:p>
          <a:p>
            <a:pPr>
              <a:defRPr sz="1600"/>
            </a:pPr>
            <a:r>
              <a:t>高科技製造業:1048 篇(佔可歸類 23.8%)</a:t>
            </a:r>
          </a:p>
          <a:p>
            <a:pPr>
              <a:defRPr sz="1600"/>
            </a:pPr>
            <a:r>
              <a:t>政府教育單位:829 篇(佔可歸類 18.8%)</a:t>
            </a:r>
          </a:p>
          <a:p>
            <a:pPr>
              <a:defRPr sz="1600"/>
            </a:pPr>
            <a:r>
              <a:t>金融業:679 篇(佔可歸類 15.4%)</a:t>
            </a:r>
          </a:p>
          <a:p>
            <a:pPr>
              <a:defRPr sz="1600"/>
            </a:pPr>
            <a:r>
              <a:t>最熱主題:AI 與自動化(990 篇)、利率與資金環境(284 篇)、地緣政治與供應鏈(222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85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515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美光:疑似負面 22 篇(命中:罷工)</a:t>
            </a:r>
          </a:p>
          <a:p>
            <a:pPr>
              <a:defRPr sz="1600"/>
            </a:pPr>
            <a:r>
              <a:t>Meta:疑似負面 6 篇(命中:下架、弊案、抵制、掏空)</a:t>
            </a:r>
          </a:p>
          <a:p>
            <a:pPr>
              <a:defRPr sz="1600"/>
            </a:pPr>
            <a:r>
              <a:t>遠傳:疑似負面 5 篇(命中:詐騙)</a:t>
            </a:r>
          </a:p>
          <a:p>
            <a:pPr>
              <a:defRPr sz="1600"/>
            </a:pPr>
            <a:r>
              <a:t>緯創:疑似負面 4 篇(命中:資安事件)</a:t>
            </a:r>
          </a:p>
          <a:p>
            <a:pPr>
              <a:defRPr sz="1600"/>
            </a:pPr>
            <a:r>
              <a:t>台積電:疑似負面 4 篇(命中:罷工、詐欺、集體訴訟)</a:t>
            </a:r>
          </a:p>
          <a:p>
            <a:pPr>
              <a:defRPr sz="1600"/>
            </a:pPr>
            <a:r>
              <a:t>104人力銀行:疑似負面 4 篇(命中:外洩、資安事件、駭客)</a:t>
            </a:r>
          </a:p>
          <a:p>
            <a:pPr>
              <a:defRPr sz="1600"/>
            </a:pPr>
            <a:r>
              <a:t>台泥:疑似負面 2 篇(命中:背信、起訴)</a:t>
            </a:r>
          </a:p>
          <a:p>
            <a:pPr>
              <a:defRPr sz="1600"/>
            </a:pPr>
            <a:r>
              <a:t>成大:疑似負面 2 篇(命中:爆炸、資安事件)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