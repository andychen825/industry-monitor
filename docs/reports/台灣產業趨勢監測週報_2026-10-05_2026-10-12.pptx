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篇數</c:v>
                </c:pt>
              </c:strCache>
            </c:strRef>
          </c:tx>
          <c:cat>
            <c:strRef>
              <c:f>Sheet1!$A$2:$A$12</c:f>
              <c:strCache>
                <c:ptCount val="11"/>
                <c:pt idx="0">
                  <c:v>保險業</c:v>
                </c:pt>
                <c:pt idx="1">
                  <c:v>批發零售業</c:v>
                </c:pt>
                <c:pt idx="2">
                  <c:v>傳統製造業</c:v>
                </c:pt>
                <c:pt idx="3">
                  <c:v>專業科學及技術服務業</c:v>
                </c:pt>
                <c:pt idx="4">
                  <c:v>服務業</c:v>
                </c:pt>
                <c:pt idx="5">
                  <c:v>醫療保健業</c:v>
                </c:pt>
                <c:pt idx="6">
                  <c:v>住宿及餐飲業</c:v>
                </c:pt>
                <c:pt idx="7">
                  <c:v>資通訊業</c:v>
                </c:pt>
                <c:pt idx="8">
                  <c:v>金融業</c:v>
                </c:pt>
                <c:pt idx="9">
                  <c:v>政府教育單位</c:v>
                </c:pt>
                <c:pt idx="10">
                  <c:v>高科技製造業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34</c:v>
                </c:pt>
                <c:pt idx="1">
                  <c:v>162</c:v>
                </c:pt>
                <c:pt idx="2">
                  <c:v>190</c:v>
                </c:pt>
                <c:pt idx="3">
                  <c:v>199</c:v>
                </c:pt>
                <c:pt idx="4">
                  <c:v>275</c:v>
                </c:pt>
                <c:pt idx="5">
                  <c:v>324</c:v>
                </c:pt>
                <c:pt idx="6">
                  <c:v>333</c:v>
                </c:pt>
                <c:pt idx="7">
                  <c:v>392</c:v>
                </c:pt>
                <c:pt idx="8">
                  <c:v>689</c:v>
                </c:pt>
                <c:pt idx="9">
                  <c:v>846</c:v>
                </c:pt>
                <c:pt idx="10">
                  <c:v>1073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本期篇數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華碩</c:v>
                </c:pt>
                <c:pt idx="1">
                  <c:v>宏碁</c:v>
                </c:pt>
                <c:pt idx="2">
                  <c:v>技嘉</c:v>
                </c:pt>
                <c:pt idx="3">
                  <c:v>微星</c:v>
                </c:pt>
                <c:pt idx="4">
                  <c:v>聯想</c:v>
                </c:pt>
                <c:pt idx="5">
                  <c:v>HP</c:v>
                </c:pt>
                <c:pt idx="6">
                  <c:v>戴爾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</c:v>
                </c:pt>
                <c:pt idx="1">
                  <c:v>21</c:v>
                </c:pt>
                <c:pt idx="2">
                  <c:v>13</c:v>
                </c:pt>
                <c:pt idx="3">
                  <c:v>11</c:v>
                </c:pt>
                <c:pt idx="4">
                  <c:v>11</c:v>
                </c:pt>
                <c:pt idx="5">
                  <c:v>4</c:v>
                </c:pt>
                <c:pt idx="6">
                  <c:v>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前期篇數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華碩</c:v>
                </c:pt>
                <c:pt idx="1">
                  <c:v>宏碁</c:v>
                </c:pt>
                <c:pt idx="2">
                  <c:v>技嘉</c:v>
                </c:pt>
                <c:pt idx="3">
                  <c:v>微星</c:v>
                </c:pt>
                <c:pt idx="4">
                  <c:v>聯想</c:v>
                </c:pt>
                <c:pt idx="5">
                  <c:v>HP</c:v>
                </c:pt>
                <c:pt idx="6">
                  <c:v>戴爾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16</c:v>
                </c:pt>
                <c:pt idx="1">
                  <c:v>24</c:v>
                </c:pt>
                <c:pt idx="2">
                  <c:v>5</c:v>
                </c:pt>
                <c:pt idx="3">
                  <c:v>2</c:v>
                </c:pt>
                <c:pt idx="4">
                  <c:v>11</c:v>
                </c:pt>
                <c:pt idx="5">
                  <c:v>4</c:v>
                </c:pt>
                <c:pt idx="6">
                  <c:v>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本期篇數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台積電</c:v>
                </c:pt>
                <c:pt idx="1">
                  <c:v>輝達</c:v>
                </c:pt>
                <c:pt idx="2">
                  <c:v>聯發科</c:v>
                </c:pt>
                <c:pt idx="3">
                  <c:v>超微</c:v>
                </c:pt>
                <c:pt idx="4">
                  <c:v>三星</c:v>
                </c:pt>
                <c:pt idx="5">
                  <c:v>英特爾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251</c:v>
                </c:pt>
                <c:pt idx="1">
                  <c:v>122</c:v>
                </c:pt>
                <c:pt idx="2">
                  <c:v>46</c:v>
                </c:pt>
                <c:pt idx="3">
                  <c:v>43</c:v>
                </c:pt>
                <c:pt idx="4">
                  <c:v>40</c:v>
                </c:pt>
                <c:pt idx="5">
                  <c:v>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前期篇數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台積電</c:v>
                </c:pt>
                <c:pt idx="1">
                  <c:v>輝達</c:v>
                </c:pt>
                <c:pt idx="2">
                  <c:v>聯發科</c:v>
                </c:pt>
                <c:pt idx="3">
                  <c:v>超微</c:v>
                </c:pt>
                <c:pt idx="4">
                  <c:v>三星</c:v>
                </c:pt>
                <c:pt idx="5">
                  <c:v>英特爾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258</c:v>
                </c:pt>
                <c:pt idx="1">
                  <c:v>128</c:v>
                </c:pt>
                <c:pt idx="2">
                  <c:v>53</c:v>
                </c:pt>
                <c:pt idx="3">
                  <c:v>36</c:v>
                </c:pt>
                <c:pt idx="4">
                  <c:v>61</c:v>
                </c:pt>
                <c:pt idx="5">
                  <c:v>28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台灣產業趨勢監測週報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報告期間:2026-10-05 ~ 2026-10-12</a:t>
            </a:r>
          </a:p>
          <a:p>
            <a:r>
              <a:t>產出:2026-10-12 21:33(台北時間)</a:t>
            </a:r>
          </a:p>
          <a:p>
            <a:r>
              <a:t>資料來源:公開新聞媒體與官方開放資料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總體結論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本期共蒐集 9548 篇公開報導,可歸類 4517 篇</a:t>
            </a:r>
          </a:p>
          <a:p>
            <a:pPr>
              <a:defRPr sz="1600"/>
            </a:pPr>
            <a:r>
              <a:t>高科技製造業:1073 篇(佔可歸類 23.8%)</a:t>
            </a:r>
          </a:p>
          <a:p>
            <a:pPr>
              <a:defRPr sz="1600"/>
            </a:pPr>
            <a:r>
              <a:t>政府教育單位:846 篇(佔可歸類 18.7%)</a:t>
            </a:r>
          </a:p>
          <a:p>
            <a:pPr>
              <a:defRPr sz="1600"/>
            </a:pPr>
            <a:r>
              <a:t>金融業:689 篇(佔可歸類 15.3%)</a:t>
            </a:r>
          </a:p>
          <a:p>
            <a:pPr>
              <a:defRPr sz="1600"/>
            </a:pPr>
            <a:r>
              <a:t>最熱主題:AI 與自動化(1012 篇)、利率與資金環境(288 篇)、地緣政治與供應鏈(228 篇)</a:t>
            </a:r>
          </a:p>
          <a:p>
            <a:pPr>
              <a:defRPr sz="1600"/>
            </a:pPr>
            <a:r>
              <a:t>※ 本頁由系統統計自動生成,數據可溯源至報導原文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各產業報導篇數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804672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競品聲量對比(SOV)— 電腦品牌(合計 86 篇)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80467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競品聲量對比(SOV)— 半導體(合計 526 篇)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80467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負面聲量警示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美光:疑似負面 22 篇(命中:罷工)</a:t>
            </a:r>
          </a:p>
          <a:p>
            <a:pPr>
              <a:defRPr sz="1600"/>
            </a:pPr>
            <a:r>
              <a:t>Meta:疑似負面 6 篇(命中:下架、弊案、抵制、掏空)</a:t>
            </a:r>
          </a:p>
          <a:p>
            <a:pPr>
              <a:defRPr sz="1600"/>
            </a:pPr>
            <a:r>
              <a:t>遠傳:疑似負面 5 篇(命中:詐騙)</a:t>
            </a:r>
          </a:p>
          <a:p>
            <a:pPr>
              <a:defRPr sz="1600"/>
            </a:pPr>
            <a:r>
              <a:t>緯創:疑似負面 4 篇(命中:資安事件)</a:t>
            </a:r>
          </a:p>
          <a:p>
            <a:pPr>
              <a:defRPr sz="1600"/>
            </a:pPr>
            <a:r>
              <a:t>台積電:疑似負面 4 篇(命中:罷工、詐欺、集體訴訟)</a:t>
            </a:r>
          </a:p>
          <a:p>
            <a:pPr>
              <a:defRPr sz="1600"/>
            </a:pPr>
            <a:r>
              <a:t>104人力銀行:疑似負面 4 篇(命中:外洩、資安事件、駭客)</a:t>
            </a:r>
          </a:p>
          <a:p>
            <a:pPr>
              <a:defRPr sz="1600"/>
            </a:pPr>
            <a:r>
              <a:t>台泥:疑似負面 2 篇(命中:背信、起訴)</a:t>
            </a:r>
          </a:p>
          <a:p>
            <a:pPr>
              <a:defRPr sz="1600"/>
            </a:pPr>
            <a:r>
              <a:t>成大:疑似負面 2 篇(命中:爆炸、資安事件)</a:t>
            </a:r>
          </a:p>
          <a:p>
            <a:pPr>
              <a:defRPr sz="1600"/>
            </a:pPr>
            <a:r>
              <a:t>※ 規則式偵測僅供初步示警,請人工確認報導立場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