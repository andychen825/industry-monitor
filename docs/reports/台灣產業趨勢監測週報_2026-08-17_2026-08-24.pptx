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專業科學及技術服務業</c:v>
                </c:pt>
                <c:pt idx="5">
                  <c:v>資通訊業</c:v>
                </c:pt>
                <c:pt idx="6">
                  <c:v>服務業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高科技製造業</c:v>
                </c:pt>
                <c:pt idx="10">
                  <c:v>政府教育單位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49</c:v>
                </c:pt>
                <c:pt idx="1">
                  <c:v>123</c:v>
                </c:pt>
                <c:pt idx="2">
                  <c:v>197</c:v>
                </c:pt>
                <c:pt idx="3">
                  <c:v>235</c:v>
                </c:pt>
                <c:pt idx="4">
                  <c:v>251</c:v>
                </c:pt>
                <c:pt idx="5">
                  <c:v>307</c:v>
                </c:pt>
                <c:pt idx="6">
                  <c:v>324</c:v>
                </c:pt>
                <c:pt idx="7">
                  <c:v>401</c:v>
                </c:pt>
                <c:pt idx="8">
                  <c:v>875</c:v>
                </c:pt>
                <c:pt idx="9">
                  <c:v>883</c:v>
                </c:pt>
                <c:pt idx="10">
                  <c:v>1216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技嘉</c:v>
                </c:pt>
                <c:pt idx="2">
                  <c:v>宏碁</c:v>
                </c:pt>
                <c:pt idx="3">
                  <c:v>聯想</c:v>
                </c:pt>
                <c:pt idx="4">
                  <c:v>微星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15</c:v>
                </c:pt>
                <c:pt idx="2">
                  <c:v>14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技嘉</c:v>
                </c:pt>
                <c:pt idx="2">
                  <c:v>宏碁</c:v>
                </c:pt>
                <c:pt idx="3">
                  <c:v>聯想</c:v>
                </c:pt>
                <c:pt idx="4">
                  <c:v>微星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41</c:v>
                </c:pt>
                <c:pt idx="1">
                  <c:v>9</c:v>
                </c:pt>
                <c:pt idx="2">
                  <c:v>30</c:v>
                </c:pt>
                <c:pt idx="3">
                  <c:v>6</c:v>
                </c:pt>
                <c:pt idx="4">
                  <c:v>7</c:v>
                </c:pt>
                <c:pt idx="5">
                  <c:v>4</c:v>
                </c:pt>
                <c:pt idx="6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191</c:v>
                </c:pt>
                <c:pt idx="1">
                  <c:v>111</c:v>
                </c:pt>
                <c:pt idx="2">
                  <c:v>56</c:v>
                </c:pt>
                <c:pt idx="3">
                  <c:v>46</c:v>
                </c:pt>
                <c:pt idx="4">
                  <c:v>38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248</c:v>
                </c:pt>
                <c:pt idx="1">
                  <c:v>84</c:v>
                </c:pt>
                <c:pt idx="2">
                  <c:v>52</c:v>
                </c:pt>
                <c:pt idx="3">
                  <c:v>33</c:v>
                </c:pt>
                <c:pt idx="4">
                  <c:v>25</c:v>
                </c:pt>
                <c:pt idx="5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報告期間:2026-08-17 ~ 2026-08-24</a:t>
            </a:r>
          </a:p>
          <a:p>
            <a:r>
              <a:t>產出:2026-08-24 14:08(台北時間)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9371 篇公開報導,可歸類 4861 篇</a:t>
            </a:r>
          </a:p>
          <a:p>
            <a:pPr>
              <a:defRPr sz="1600"/>
            </a:pPr>
            <a:r>
              <a:t>政府教育單位:1216 篇(佔可歸類 25.0%)</a:t>
            </a:r>
          </a:p>
          <a:p>
            <a:pPr>
              <a:defRPr sz="1600"/>
            </a:pPr>
            <a:r>
              <a:t>高科技製造業:883 篇(佔可歸類 18.2%)</a:t>
            </a:r>
          </a:p>
          <a:p>
            <a:pPr>
              <a:defRPr sz="1600"/>
            </a:pPr>
            <a:r>
              <a:t>金融業:875 篇(佔可歸類 18.0%)</a:t>
            </a:r>
          </a:p>
          <a:p>
            <a:pPr>
              <a:defRPr sz="1600"/>
            </a:pPr>
            <a:r>
              <a:t>最熱主題:AI 與自動化(1036 篇)、利率與資金環境(440 篇)、地緣政治與供應鏈(259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77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463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10 篇(命中:求償、破產、裁罰、詐騙)</a:t>
            </a:r>
          </a:p>
          <a:p>
            <a:pPr>
              <a:defRPr sz="1600"/>
            </a:pPr>
            <a:r>
              <a:t>超微:疑似負面 4 篇(命中:起訴)</a:t>
            </a:r>
          </a:p>
          <a:p>
            <a:pPr>
              <a:defRPr sz="1600"/>
            </a:pPr>
            <a:r>
              <a:t>華航:疑似負面 4 篇(命中:工安)</a:t>
            </a:r>
          </a:p>
          <a:p>
            <a:pPr>
              <a:defRPr sz="1600"/>
            </a:pPr>
            <a:r>
              <a:t>台積電:疑似負面 3 篇(命中:停工、工安)</a:t>
            </a:r>
          </a:p>
          <a:p>
            <a:pPr>
              <a:defRPr sz="1600"/>
            </a:pPr>
            <a:r>
              <a:t>輝達:疑似負面 2 篇(命中:瑕疵)</a:t>
            </a:r>
          </a:p>
          <a:p>
            <a:pPr>
              <a:defRPr sz="1600"/>
            </a:pPr>
            <a:r>
              <a:t>英業達:疑似負面 2 篇(命中:工安、瑕疵)</a:t>
            </a:r>
          </a:p>
          <a:p>
            <a:pPr>
              <a:defRPr sz="1600"/>
            </a:pPr>
            <a:r>
              <a:t>Uber:疑似負面 1 篇(命中:裁罰)</a:t>
            </a:r>
          </a:p>
          <a:p>
            <a:pPr>
              <a:defRPr sz="1600"/>
            </a:pPr>
            <a:r>
              <a:t>聯發科:疑似負面 1 篇(命中:求償)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