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篇數</c:v>
                </c:pt>
              </c:strCache>
            </c:strRef>
          </c:tx>
          <c:cat>
            <c:strRef>
              <c:f>Sheet1!$A$2:$A$12</c:f>
              <c:strCache>
                <c:ptCount val="11"/>
                <c:pt idx="0">
                  <c:v>保險業</c:v>
                </c:pt>
                <c:pt idx="1">
                  <c:v>傳統製造業</c:v>
                </c:pt>
                <c:pt idx="2">
                  <c:v>批發零售業</c:v>
                </c:pt>
                <c:pt idx="3">
                  <c:v>住宿及餐飲業</c:v>
                </c:pt>
                <c:pt idx="4">
                  <c:v>專業科學及技術服務業</c:v>
                </c:pt>
                <c:pt idx="5">
                  <c:v>資通訊業</c:v>
                </c:pt>
                <c:pt idx="6">
                  <c:v>服務業</c:v>
                </c:pt>
                <c:pt idx="7">
                  <c:v>醫療保健業</c:v>
                </c:pt>
                <c:pt idx="8">
                  <c:v>金融業</c:v>
                </c:pt>
                <c:pt idx="9">
                  <c:v>高科技製造業</c:v>
                </c:pt>
                <c:pt idx="10">
                  <c:v>政府教育單位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46</c:v>
                </c:pt>
                <c:pt idx="1">
                  <c:v>118</c:v>
                </c:pt>
                <c:pt idx="2">
                  <c:v>191</c:v>
                </c:pt>
                <c:pt idx="3">
                  <c:v>222</c:v>
                </c:pt>
                <c:pt idx="4">
                  <c:v>244</c:v>
                </c:pt>
                <c:pt idx="5">
                  <c:v>292</c:v>
                </c:pt>
                <c:pt idx="6">
                  <c:v>309</c:v>
                </c:pt>
                <c:pt idx="7">
                  <c:v>376</c:v>
                </c:pt>
                <c:pt idx="8">
                  <c:v>833</c:v>
                </c:pt>
                <c:pt idx="9">
                  <c:v>849</c:v>
                </c:pt>
                <c:pt idx="10">
                  <c:v>1140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本期篇數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華碩</c:v>
                </c:pt>
                <c:pt idx="1">
                  <c:v>技嘉</c:v>
                </c:pt>
                <c:pt idx="2">
                  <c:v>宏碁</c:v>
                </c:pt>
                <c:pt idx="3">
                  <c:v>聯想</c:v>
                </c:pt>
                <c:pt idx="4">
                  <c:v>微星</c:v>
                </c:pt>
                <c:pt idx="5">
                  <c:v>HP</c:v>
                </c:pt>
                <c:pt idx="6">
                  <c:v>戴爾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23</c:v>
                </c:pt>
                <c:pt idx="1">
                  <c:v>14</c:v>
                </c:pt>
                <c:pt idx="2">
                  <c:v>13</c:v>
                </c:pt>
                <c:pt idx="3">
                  <c:v>10</c:v>
                </c:pt>
                <c:pt idx="4">
                  <c:v>9</c:v>
                </c:pt>
                <c:pt idx="5">
                  <c:v>5</c:v>
                </c:pt>
                <c:pt idx="6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前期篇數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華碩</c:v>
                </c:pt>
                <c:pt idx="1">
                  <c:v>技嘉</c:v>
                </c:pt>
                <c:pt idx="2">
                  <c:v>宏碁</c:v>
                </c:pt>
                <c:pt idx="3">
                  <c:v>聯想</c:v>
                </c:pt>
                <c:pt idx="4">
                  <c:v>微星</c:v>
                </c:pt>
                <c:pt idx="5">
                  <c:v>HP</c:v>
                </c:pt>
                <c:pt idx="6">
                  <c:v>戴爾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41</c:v>
                </c:pt>
                <c:pt idx="1">
                  <c:v>9</c:v>
                </c:pt>
                <c:pt idx="2">
                  <c:v>30</c:v>
                </c:pt>
                <c:pt idx="3">
                  <c:v>6</c:v>
                </c:pt>
                <c:pt idx="4">
                  <c:v>7</c:v>
                </c:pt>
                <c:pt idx="5">
                  <c:v>4</c:v>
                </c:pt>
                <c:pt idx="6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本期篇數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台積電</c:v>
                </c:pt>
                <c:pt idx="1">
                  <c:v>輝達</c:v>
                </c:pt>
                <c:pt idx="2">
                  <c:v>三星</c:v>
                </c:pt>
                <c:pt idx="3">
                  <c:v>聯發科</c:v>
                </c:pt>
                <c:pt idx="4">
                  <c:v>超微</c:v>
                </c:pt>
                <c:pt idx="5">
                  <c:v>英特爾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185</c:v>
                </c:pt>
                <c:pt idx="1">
                  <c:v>103</c:v>
                </c:pt>
                <c:pt idx="2">
                  <c:v>53</c:v>
                </c:pt>
                <c:pt idx="3">
                  <c:v>44</c:v>
                </c:pt>
                <c:pt idx="4">
                  <c:v>36</c:v>
                </c:pt>
                <c:pt idx="5">
                  <c:v>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前期篇數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台積電</c:v>
                </c:pt>
                <c:pt idx="1">
                  <c:v>輝達</c:v>
                </c:pt>
                <c:pt idx="2">
                  <c:v>三星</c:v>
                </c:pt>
                <c:pt idx="3">
                  <c:v>聯發科</c:v>
                </c:pt>
                <c:pt idx="4">
                  <c:v>超微</c:v>
                </c:pt>
                <c:pt idx="5">
                  <c:v>英特爾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248</c:v>
                </c:pt>
                <c:pt idx="1">
                  <c:v>84</c:v>
                </c:pt>
                <c:pt idx="2">
                  <c:v>52</c:v>
                </c:pt>
                <c:pt idx="3">
                  <c:v>33</c:v>
                </c:pt>
                <c:pt idx="4">
                  <c:v>25</c:v>
                </c:pt>
                <c:pt idx="5">
                  <c:v>19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台灣產業趨勢監測週報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報告期間:2026-08-17 ~ 2026-08-24</a:t>
            </a:r>
          </a:p>
          <a:p>
            <a:r>
              <a:t>產出:2026-08-24 10:22(台北時間)</a:t>
            </a:r>
          </a:p>
          <a:p>
            <a:r>
              <a:t>資料來源:公開新聞媒體與官方開放資料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總體結論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本期共蒐集 8901 篇公開報導,可歸類 4620 篇</a:t>
            </a:r>
          </a:p>
          <a:p>
            <a:pPr>
              <a:defRPr sz="1600"/>
            </a:pPr>
            <a:r>
              <a:t>政府教育單位:1140 篇(佔可歸類 24.7%)</a:t>
            </a:r>
          </a:p>
          <a:p>
            <a:pPr>
              <a:defRPr sz="1600"/>
            </a:pPr>
            <a:r>
              <a:t>高科技製造業:849 篇(佔可歸類 18.4%)</a:t>
            </a:r>
          </a:p>
          <a:p>
            <a:pPr>
              <a:defRPr sz="1600"/>
            </a:pPr>
            <a:r>
              <a:t>金融業:833 篇(佔可歸類 18.0%)</a:t>
            </a:r>
          </a:p>
          <a:p>
            <a:pPr>
              <a:defRPr sz="1600"/>
            </a:pPr>
            <a:r>
              <a:t>最熱主題:AI 與自動化(992 篇)、利率與資金環境(414 篇)、地緣政治與供應鏈(244 篇)</a:t>
            </a:r>
          </a:p>
          <a:p>
            <a:pPr>
              <a:defRPr sz="1600"/>
            </a:pPr>
            <a:r>
              <a:t>※ 本頁由系統統計自動生成,數據可溯源至報導原文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各產業報導篇數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80160"/>
          <a:ext cx="804672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競品聲量對比(SOV)— 電腦品牌(合計 75 篇)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80160"/>
          <a:ext cx="80467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競品聲量對比(SOV)— 半導體(合計 442 篇)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80160"/>
          <a:ext cx="80467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負面聲量警示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Meta:疑似負面 9 篇(命中:求償、破產、裁罰、詐騙)</a:t>
            </a:r>
          </a:p>
          <a:p>
            <a:pPr>
              <a:defRPr sz="1600"/>
            </a:pPr>
            <a:r>
              <a:t>超微:疑似負面 4 篇(命中:起訴)</a:t>
            </a:r>
          </a:p>
          <a:p>
            <a:pPr>
              <a:defRPr sz="1600"/>
            </a:pPr>
            <a:r>
              <a:t>華航:疑似負面 4 篇(命中:工安)</a:t>
            </a:r>
          </a:p>
          <a:p>
            <a:pPr>
              <a:defRPr sz="1600"/>
            </a:pPr>
            <a:r>
              <a:t>台積電:疑似負面 3 篇(命中:停工、工安)</a:t>
            </a:r>
          </a:p>
          <a:p>
            <a:pPr>
              <a:defRPr sz="1600"/>
            </a:pPr>
            <a:r>
              <a:t>輝達:疑似負面 2 篇(命中:瑕疵)</a:t>
            </a:r>
          </a:p>
          <a:p>
            <a:pPr>
              <a:defRPr sz="1600"/>
            </a:pPr>
            <a:r>
              <a:t>英業達:疑似負面 2 篇(命中:工安、瑕疵)</a:t>
            </a:r>
          </a:p>
          <a:p>
            <a:pPr>
              <a:defRPr sz="1600"/>
            </a:pPr>
            <a:r>
              <a:t>Uber:疑似負面 1 篇(命中:裁罰)</a:t>
            </a:r>
          </a:p>
          <a:p>
            <a:pPr>
              <a:defRPr sz="1600"/>
            </a:pPr>
            <a:r>
              <a:t>聯發科:疑似負面 1 篇(命中:求償)</a:t>
            </a:r>
          </a:p>
          <a:p>
            <a:pPr>
              <a:defRPr sz="1600"/>
            </a:pPr>
            <a:r>
              <a:t>※ 規則式偵測僅供初步示警,請人工確認報導立場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