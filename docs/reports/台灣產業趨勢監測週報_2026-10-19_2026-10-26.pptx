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專業科學及技術服務業</c:v>
                </c:pt>
                <c:pt idx="4">
                  <c:v>服務業</c:v>
                </c:pt>
                <c:pt idx="5">
                  <c:v>住宿及餐飲業</c:v>
                </c:pt>
                <c:pt idx="6">
                  <c:v>醫療保健業</c:v>
                </c:pt>
                <c:pt idx="7">
                  <c:v>資通訊業</c:v>
                </c:pt>
                <c:pt idx="8">
                  <c:v>政府教育單位</c:v>
                </c:pt>
                <c:pt idx="9">
                  <c:v>金融業</c:v>
                </c:pt>
                <c:pt idx="10">
                  <c:v>高科技製造業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63</c:v>
                </c:pt>
                <c:pt idx="1">
                  <c:v>131</c:v>
                </c:pt>
                <c:pt idx="2">
                  <c:v>170</c:v>
                </c:pt>
                <c:pt idx="3">
                  <c:v>212</c:v>
                </c:pt>
                <c:pt idx="4">
                  <c:v>262</c:v>
                </c:pt>
                <c:pt idx="5">
                  <c:v>277</c:v>
                </c:pt>
                <c:pt idx="6">
                  <c:v>306</c:v>
                </c:pt>
                <c:pt idx="7">
                  <c:v>379</c:v>
                </c:pt>
                <c:pt idx="8">
                  <c:v>692</c:v>
                </c:pt>
                <c:pt idx="9">
                  <c:v>796</c:v>
                </c:pt>
                <c:pt idx="10">
                  <c:v>923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聯想</c:v>
                </c:pt>
                <c:pt idx="2">
                  <c:v>華碩</c:v>
                </c:pt>
                <c:pt idx="3">
                  <c:v>技嘉</c:v>
                </c:pt>
                <c:pt idx="4">
                  <c:v>微星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</c:v>
                </c:pt>
                <c:pt idx="1">
                  <c:v>13</c:v>
                </c:pt>
                <c:pt idx="2">
                  <c:v>10</c:v>
                </c:pt>
                <c:pt idx="3">
                  <c:v>8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聯想</c:v>
                </c:pt>
                <c:pt idx="2">
                  <c:v>華碩</c:v>
                </c:pt>
                <c:pt idx="3">
                  <c:v>技嘉</c:v>
                </c:pt>
                <c:pt idx="4">
                  <c:v>微星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</c:v>
                </c:pt>
                <c:pt idx="1">
                  <c:v>9</c:v>
                </c:pt>
                <c:pt idx="2">
                  <c:v>18</c:v>
                </c:pt>
                <c:pt idx="3">
                  <c:v>10</c:v>
                </c:pt>
                <c:pt idx="4">
                  <c:v>10</c:v>
                </c:pt>
                <c:pt idx="5">
                  <c:v>4</c:v>
                </c:pt>
                <c:pt idx="6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超微</c:v>
                </c:pt>
                <c:pt idx="3">
                  <c:v>三星</c:v>
                </c:pt>
                <c:pt idx="4">
                  <c:v>聯發科</c:v>
                </c:pt>
                <c:pt idx="5">
                  <c:v>英特爾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209</c:v>
                </c:pt>
                <c:pt idx="1">
                  <c:v>154</c:v>
                </c:pt>
                <c:pt idx="2">
                  <c:v>40</c:v>
                </c:pt>
                <c:pt idx="3">
                  <c:v>34</c:v>
                </c:pt>
                <c:pt idx="4">
                  <c:v>24</c:v>
                </c:pt>
                <c:pt idx="5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超微</c:v>
                </c:pt>
                <c:pt idx="3">
                  <c:v>三星</c:v>
                </c:pt>
                <c:pt idx="4">
                  <c:v>聯發科</c:v>
                </c:pt>
                <c:pt idx="5">
                  <c:v>英特爾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306</c:v>
                </c:pt>
                <c:pt idx="1">
                  <c:v>162</c:v>
                </c:pt>
                <c:pt idx="2">
                  <c:v>28</c:v>
                </c:pt>
                <c:pt idx="3">
                  <c:v>51</c:v>
                </c:pt>
                <c:pt idx="4">
                  <c:v>40</c:v>
                </c:pt>
                <c:pt idx="5">
                  <c:v>29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報告期間:2026-10-19 ~ 2026-10-26</a:t>
            </a:r>
          </a:p>
          <a:p>
            <a:r>
              <a:t>產出:2026-10-26 18:08(台北時間)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9136 篇公開報導,可歸類 4211 篇</a:t>
            </a:r>
          </a:p>
          <a:p>
            <a:pPr>
              <a:defRPr sz="1600"/>
            </a:pPr>
            <a:r>
              <a:t>高科技製造業:923 篇(佔可歸類 21.9%)</a:t>
            </a:r>
          </a:p>
          <a:p>
            <a:pPr>
              <a:defRPr sz="1600"/>
            </a:pPr>
            <a:r>
              <a:t>金融業:796 篇(佔可歸類 18.9%)</a:t>
            </a:r>
          </a:p>
          <a:p>
            <a:pPr>
              <a:defRPr sz="1600"/>
            </a:pPr>
            <a:r>
              <a:t>政府教育單位:692 篇(佔可歸類 16.4%)</a:t>
            </a:r>
          </a:p>
          <a:p>
            <a:pPr>
              <a:defRPr sz="1600"/>
            </a:pPr>
            <a:r>
              <a:t>最熱主題:AI 與自動化(972 篇)、利率與資金環境(270 篇)、地緣政治與供應鏈(206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48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481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美光:疑似負面 32 篇(命中:罷工)</a:t>
            </a:r>
          </a:p>
          <a:p>
            <a:pPr>
              <a:defRPr sz="1600"/>
            </a:pPr>
            <a:r>
              <a:t>台積電:疑似負面 32 篇(命中:停工、工安)</a:t>
            </a:r>
          </a:p>
          <a:p>
            <a:pPr>
              <a:defRPr sz="1600"/>
            </a:pPr>
            <a:r>
              <a:t>Meta:疑似負面 10 篇(命中:弊案、罰款、詐欺、詐騙)</a:t>
            </a:r>
          </a:p>
          <a:p>
            <a:pPr>
              <a:defRPr sz="1600"/>
            </a:pPr>
            <a:r>
              <a:t>Google:疑似負面 7 篇(命中:詐騙、違規)</a:t>
            </a:r>
          </a:p>
          <a:p>
            <a:pPr>
              <a:defRPr sz="1600"/>
            </a:pPr>
            <a:r>
              <a:t>新光三越:疑似負面 6 篇(命中:工安、詐騙、駭客)</a:t>
            </a:r>
          </a:p>
          <a:p>
            <a:pPr>
              <a:defRPr sz="1600"/>
            </a:pPr>
            <a:r>
              <a:t>輝達:疑似負面 3 篇(命中:倒閉、罷工)</a:t>
            </a:r>
          </a:p>
          <a:p>
            <a:pPr>
              <a:defRPr sz="1600"/>
            </a:pPr>
            <a:r>
              <a:t>兆豐金:疑似負面 3 篇(命中:罷工、詐騙)</a:t>
            </a:r>
          </a:p>
          <a:p>
            <a:pPr>
              <a:defRPr sz="1600"/>
            </a:pPr>
            <a:r>
              <a:t>第一金:疑似負面 3 篇(命中:工安、罷工)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