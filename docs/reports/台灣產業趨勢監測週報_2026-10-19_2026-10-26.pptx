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篇數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保險業</c:v>
                </c:pt>
                <c:pt idx="1">
                  <c:v>傳統製造業</c:v>
                </c:pt>
                <c:pt idx="2">
                  <c:v>批發零售業</c:v>
                </c:pt>
                <c:pt idx="3">
                  <c:v>專業科學及技術服務業</c:v>
                </c:pt>
                <c:pt idx="4">
                  <c:v>服務業</c:v>
                </c:pt>
                <c:pt idx="5">
                  <c:v>住宿及餐飲業</c:v>
                </c:pt>
                <c:pt idx="6">
                  <c:v>醫療保健業</c:v>
                </c:pt>
                <c:pt idx="7">
                  <c:v>資通訊業</c:v>
                </c:pt>
                <c:pt idx="8">
                  <c:v>政府教育單位</c:v>
                </c:pt>
                <c:pt idx="9">
                  <c:v>金融業</c:v>
                </c:pt>
                <c:pt idx="10">
                  <c:v>高科技製造業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62</c:v>
                </c:pt>
                <c:pt idx="1">
                  <c:v>122</c:v>
                </c:pt>
                <c:pt idx="2">
                  <c:v>164</c:v>
                </c:pt>
                <c:pt idx="3">
                  <c:v>204</c:v>
                </c:pt>
                <c:pt idx="4">
                  <c:v>257</c:v>
                </c:pt>
                <c:pt idx="5">
                  <c:v>270</c:v>
                </c:pt>
                <c:pt idx="6">
                  <c:v>293</c:v>
                </c:pt>
                <c:pt idx="7">
                  <c:v>368</c:v>
                </c:pt>
                <c:pt idx="8">
                  <c:v>659</c:v>
                </c:pt>
                <c:pt idx="9">
                  <c:v>774</c:v>
                </c:pt>
                <c:pt idx="10">
                  <c:v>903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宏碁</c:v>
                </c:pt>
                <c:pt idx="1">
                  <c:v>聯想</c:v>
                </c:pt>
                <c:pt idx="2">
                  <c:v>華碩</c:v>
                </c:pt>
                <c:pt idx="3">
                  <c:v>技嘉</c:v>
                </c:pt>
                <c:pt idx="4">
                  <c:v>微星</c:v>
                </c:pt>
                <c:pt idx="5">
                  <c:v>HP</c:v>
                </c:pt>
                <c:pt idx="6">
                  <c:v>戴爾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</c:v>
                </c:pt>
                <c:pt idx="1">
                  <c:v>12</c:v>
                </c:pt>
                <c:pt idx="2">
                  <c:v>10</c:v>
                </c:pt>
                <c:pt idx="3">
                  <c:v>8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宏碁</c:v>
                </c:pt>
                <c:pt idx="1">
                  <c:v>聯想</c:v>
                </c:pt>
                <c:pt idx="2">
                  <c:v>華碩</c:v>
                </c:pt>
                <c:pt idx="3">
                  <c:v>技嘉</c:v>
                </c:pt>
                <c:pt idx="4">
                  <c:v>微星</c:v>
                </c:pt>
                <c:pt idx="5">
                  <c:v>HP</c:v>
                </c:pt>
                <c:pt idx="6">
                  <c:v>戴爾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</c:v>
                </c:pt>
                <c:pt idx="1">
                  <c:v>9</c:v>
                </c:pt>
                <c:pt idx="2">
                  <c:v>18</c:v>
                </c:pt>
                <c:pt idx="3">
                  <c:v>10</c:v>
                </c:pt>
                <c:pt idx="4">
                  <c:v>10</c:v>
                </c:pt>
                <c:pt idx="5">
                  <c:v>4</c:v>
                </c:pt>
                <c:pt idx="6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台積電</c:v>
                </c:pt>
                <c:pt idx="1">
                  <c:v>輝達</c:v>
                </c:pt>
                <c:pt idx="2">
                  <c:v>超微</c:v>
                </c:pt>
                <c:pt idx="3">
                  <c:v>三星</c:v>
                </c:pt>
                <c:pt idx="4">
                  <c:v>聯發科</c:v>
                </c:pt>
                <c:pt idx="5">
                  <c:v>英特爾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202</c:v>
                </c:pt>
                <c:pt idx="1">
                  <c:v>149</c:v>
                </c:pt>
                <c:pt idx="2">
                  <c:v>39</c:v>
                </c:pt>
                <c:pt idx="3">
                  <c:v>33</c:v>
                </c:pt>
                <c:pt idx="4">
                  <c:v>24</c:v>
                </c:pt>
                <c:pt idx="5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台積電</c:v>
                </c:pt>
                <c:pt idx="1">
                  <c:v>輝達</c:v>
                </c:pt>
                <c:pt idx="2">
                  <c:v>超微</c:v>
                </c:pt>
                <c:pt idx="3">
                  <c:v>三星</c:v>
                </c:pt>
                <c:pt idx="4">
                  <c:v>聯發科</c:v>
                </c:pt>
                <c:pt idx="5">
                  <c:v>英特爾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306</c:v>
                </c:pt>
                <c:pt idx="1">
                  <c:v>162</c:v>
                </c:pt>
                <c:pt idx="2">
                  <c:v>28</c:v>
                </c:pt>
                <c:pt idx="3">
                  <c:v>51</c:v>
                </c:pt>
                <c:pt idx="4">
                  <c:v>40</c:v>
                </c:pt>
                <c:pt idx="5">
                  <c:v>29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台灣產業趨勢監測週報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報告期間:2026-10-19 ~ 2026-10-26</a:t>
            </a:r>
          </a:p>
          <a:p>
            <a:r>
              <a:t>產出:2026-10-26 13:41(台北時間)</a:t>
            </a:r>
          </a:p>
          <a:p>
            <a:r>
              <a:t>資料來源:公開新聞媒體與官方開放資料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總體結論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本期共蒐集 8815 篇公開報導,可歸類 4076 篇</a:t>
            </a:r>
          </a:p>
          <a:p>
            <a:pPr>
              <a:defRPr sz="1600"/>
            </a:pPr>
            <a:r>
              <a:t>高科技製造業:903 篇(佔可歸類 22.2%)</a:t>
            </a:r>
          </a:p>
          <a:p>
            <a:pPr>
              <a:defRPr sz="1600"/>
            </a:pPr>
            <a:r>
              <a:t>金融業:774 篇(佔可歸類 19.0%)</a:t>
            </a:r>
          </a:p>
          <a:p>
            <a:pPr>
              <a:defRPr sz="1600"/>
            </a:pPr>
            <a:r>
              <a:t>政府教育單位:659 篇(佔可歸類 16.2%)</a:t>
            </a:r>
          </a:p>
          <a:p>
            <a:pPr>
              <a:defRPr sz="1600"/>
            </a:pPr>
            <a:r>
              <a:t>最熱主題:AI 與自動化(939 篇)、利率與資金環境(260 篇)、地緣政治與供應鏈(197 篇)</a:t>
            </a:r>
          </a:p>
          <a:p>
            <a:pPr>
              <a:defRPr sz="1600"/>
            </a:pPr>
            <a:r>
              <a:t>※ 本頁由系統統計自動生成,數據可溯源至報導原文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各產業報導篇數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電腦品牌(合計 47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半導體(合計 467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負面聲量警示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美光:疑似負面 32 篇(命中:罷工)</a:t>
            </a:r>
          </a:p>
          <a:p>
            <a:pPr>
              <a:defRPr sz="1600"/>
            </a:pPr>
            <a:r>
              <a:t>台積電:疑似負面 32 篇(命中:停工、工安)</a:t>
            </a:r>
          </a:p>
          <a:p>
            <a:pPr>
              <a:defRPr sz="1600"/>
            </a:pPr>
            <a:r>
              <a:t>Meta:疑似負面 10 篇(命中:弊案、罰款、詐欺、詐騙)</a:t>
            </a:r>
          </a:p>
          <a:p>
            <a:pPr>
              <a:defRPr sz="1600"/>
            </a:pPr>
            <a:r>
              <a:t>Google:疑似負面 7 篇(命中:詐騙、違規)</a:t>
            </a:r>
          </a:p>
          <a:p>
            <a:pPr>
              <a:defRPr sz="1600"/>
            </a:pPr>
            <a:r>
              <a:t>新光三越:疑似負面 6 篇(命中:工安、詐騙、駭客)</a:t>
            </a:r>
          </a:p>
          <a:p>
            <a:pPr>
              <a:defRPr sz="1600"/>
            </a:pPr>
            <a:r>
              <a:t>輝達:疑似負面 3 篇(命中:倒閉、罷工)</a:t>
            </a:r>
          </a:p>
          <a:p>
            <a:pPr>
              <a:defRPr sz="1600"/>
            </a:pPr>
            <a:r>
              <a:t>兆豐金:疑似負面 3 篇(命中:罷工、詐騙)</a:t>
            </a:r>
          </a:p>
          <a:p>
            <a:pPr>
              <a:defRPr sz="1600"/>
            </a:pPr>
            <a:r>
              <a:t>第一金:疑似負面 3 篇(命中:工安、罷工)</a:t>
            </a:r>
          </a:p>
          <a:p>
            <a:pPr>
              <a:defRPr sz="1600"/>
            </a:pPr>
            <a:r>
              <a:t>※ 規則式偵測僅供初步示警,請人工確認報導立場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