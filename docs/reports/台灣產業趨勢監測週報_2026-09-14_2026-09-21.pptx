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篇數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保險業</c:v>
                </c:pt>
                <c:pt idx="1">
                  <c:v>傳統製造業</c:v>
                </c:pt>
                <c:pt idx="2">
                  <c:v>批發零售業</c:v>
                </c:pt>
                <c:pt idx="3">
                  <c:v>專業科學及技術服務業</c:v>
                </c:pt>
                <c:pt idx="4">
                  <c:v>服務業</c:v>
                </c:pt>
                <c:pt idx="5">
                  <c:v>住宿及餐飲業</c:v>
                </c:pt>
                <c:pt idx="6">
                  <c:v>資通訊業</c:v>
                </c:pt>
                <c:pt idx="7">
                  <c:v>醫療保健業</c:v>
                </c:pt>
                <c:pt idx="8">
                  <c:v>政府教育單位</c:v>
                </c:pt>
                <c:pt idx="9">
                  <c:v>高科技製造業</c:v>
                </c:pt>
                <c:pt idx="10">
                  <c:v>金融業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50</c:v>
                </c:pt>
                <c:pt idx="1">
                  <c:v>129</c:v>
                </c:pt>
                <c:pt idx="2">
                  <c:v>166</c:v>
                </c:pt>
                <c:pt idx="3">
                  <c:v>222</c:v>
                </c:pt>
                <c:pt idx="4">
                  <c:v>295</c:v>
                </c:pt>
                <c:pt idx="5">
                  <c:v>316</c:v>
                </c:pt>
                <c:pt idx="6">
                  <c:v>331</c:v>
                </c:pt>
                <c:pt idx="7">
                  <c:v>384</c:v>
                </c:pt>
                <c:pt idx="8">
                  <c:v>706</c:v>
                </c:pt>
                <c:pt idx="9">
                  <c:v>858</c:v>
                </c:pt>
                <c:pt idx="10">
                  <c:v>895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本期篇數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宏碁</c:v>
                </c:pt>
                <c:pt idx="1">
                  <c:v>華碩</c:v>
                </c:pt>
                <c:pt idx="2">
                  <c:v>聯想</c:v>
                </c:pt>
                <c:pt idx="3">
                  <c:v>微星</c:v>
                </c:pt>
                <c:pt idx="4">
                  <c:v>技嘉</c:v>
                </c:pt>
                <c:pt idx="5">
                  <c:v>戴爾</c:v>
                </c:pt>
                <c:pt idx="6">
                  <c:v>HP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34</c:v>
                </c:pt>
                <c:pt idx="1">
                  <c:v>14</c:v>
                </c:pt>
                <c:pt idx="2">
                  <c:v>14</c:v>
                </c:pt>
                <c:pt idx="3">
                  <c:v>10</c:v>
                </c:pt>
                <c:pt idx="4">
                  <c:v>7</c:v>
                </c:pt>
                <c:pt idx="5">
                  <c:v>7</c:v>
                </c:pt>
                <c:pt idx="6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前期篇數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宏碁</c:v>
                </c:pt>
                <c:pt idx="1">
                  <c:v>華碩</c:v>
                </c:pt>
                <c:pt idx="2">
                  <c:v>聯想</c:v>
                </c:pt>
                <c:pt idx="3">
                  <c:v>微星</c:v>
                </c:pt>
                <c:pt idx="4">
                  <c:v>技嘉</c:v>
                </c:pt>
                <c:pt idx="5">
                  <c:v>戴爾</c:v>
                </c:pt>
                <c:pt idx="6">
                  <c:v>HP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28</c:v>
                </c:pt>
                <c:pt idx="1">
                  <c:v>35</c:v>
                </c:pt>
                <c:pt idx="2">
                  <c:v>10</c:v>
                </c:pt>
                <c:pt idx="3">
                  <c:v>15</c:v>
                </c:pt>
                <c:pt idx="4">
                  <c:v>4</c:v>
                </c:pt>
                <c:pt idx="5">
                  <c:v>10</c:v>
                </c:pt>
                <c:pt idx="6">
                  <c:v>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本期篇數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台積電</c:v>
                </c:pt>
                <c:pt idx="1">
                  <c:v>輝達</c:v>
                </c:pt>
                <c:pt idx="2">
                  <c:v>聯發科</c:v>
                </c:pt>
                <c:pt idx="3">
                  <c:v>英特爾</c:v>
                </c:pt>
                <c:pt idx="4">
                  <c:v>三星</c:v>
                </c:pt>
                <c:pt idx="5">
                  <c:v>超微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186</c:v>
                </c:pt>
                <c:pt idx="1">
                  <c:v>102</c:v>
                </c:pt>
                <c:pt idx="2">
                  <c:v>42</c:v>
                </c:pt>
                <c:pt idx="3">
                  <c:v>42</c:v>
                </c:pt>
                <c:pt idx="4">
                  <c:v>34</c:v>
                </c:pt>
                <c:pt idx="5">
                  <c:v>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前期篇數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台積電</c:v>
                </c:pt>
                <c:pt idx="1">
                  <c:v>輝達</c:v>
                </c:pt>
                <c:pt idx="2">
                  <c:v>聯發科</c:v>
                </c:pt>
                <c:pt idx="3">
                  <c:v>英特爾</c:v>
                </c:pt>
                <c:pt idx="4">
                  <c:v>三星</c:v>
                </c:pt>
                <c:pt idx="5">
                  <c:v>超微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191</c:v>
                </c:pt>
                <c:pt idx="1">
                  <c:v>88</c:v>
                </c:pt>
                <c:pt idx="2">
                  <c:v>56</c:v>
                </c:pt>
                <c:pt idx="3">
                  <c:v>28</c:v>
                </c:pt>
                <c:pt idx="4">
                  <c:v>86</c:v>
                </c:pt>
                <c:pt idx="5">
                  <c:v>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台灣產業趨勢監測週報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報告期間:2026-09-14 ~ 2026-09-21</a:t>
            </a:r>
          </a:p>
          <a:p>
            <a:r>
              <a:t>產出:2026-09-21 13:46(台北時間)</a:t>
            </a:r>
          </a:p>
          <a:p>
            <a:r>
              <a:t>資料來源:公開新聞媒體與官方開放資料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總體結論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本期共蒐集 8685 篇公開報導,可歸類 4352 篇</a:t>
            </a:r>
          </a:p>
          <a:p>
            <a:pPr>
              <a:defRPr sz="1600"/>
            </a:pPr>
            <a:r>
              <a:t>金融業:895 篇(佔可歸類 20.6%)</a:t>
            </a:r>
          </a:p>
          <a:p>
            <a:pPr>
              <a:defRPr sz="1600"/>
            </a:pPr>
            <a:r>
              <a:t>高科技製造業:858 篇(佔可歸類 19.7%)</a:t>
            </a:r>
          </a:p>
          <a:p>
            <a:pPr>
              <a:defRPr sz="1600"/>
            </a:pPr>
            <a:r>
              <a:t>政府教育單位:706 篇(佔可歸類 16.2%)</a:t>
            </a:r>
          </a:p>
          <a:p>
            <a:pPr>
              <a:defRPr sz="1600"/>
            </a:pPr>
            <a:r>
              <a:t>最熱主題:AI 與自動化(949 篇)、利率與資金環境(480 篇)、人力與人口結構(240 篇)</a:t>
            </a:r>
          </a:p>
          <a:p>
            <a:pPr>
              <a:defRPr sz="1600"/>
            </a:pPr>
            <a:r>
              <a:t>※ 本頁由系統統計自動生成,數據可溯源至報導原文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各產業報導篇數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競品聲量對比(SOV)— 電腦品牌(合計 87 篇)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競品聲量對比(SOV)— 半導體(合計 427 篇)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負面聲量警示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長榮航空:疑似負面 6 篇(命中:外洩、爆炸、資安事件、駭客)</a:t>
            </a:r>
          </a:p>
          <a:p>
            <a:pPr>
              <a:defRPr sz="1600"/>
            </a:pPr>
            <a:r>
              <a:t>Meta:疑似負面 6 篇(命中:求償、詐欺、詐騙、起訴)</a:t>
            </a:r>
          </a:p>
          <a:p>
            <a:pPr>
              <a:defRPr sz="1600"/>
            </a:pPr>
            <a:r>
              <a:t>台積電:疑似負面 5 篇(命中:求償、爆炸、瑕疵、詐欺)</a:t>
            </a:r>
          </a:p>
          <a:p>
            <a:pPr>
              <a:defRPr sz="1600"/>
            </a:pPr>
            <a:r>
              <a:t>華南金:疑似負面 2 篇(命中:詐騙)</a:t>
            </a:r>
          </a:p>
          <a:p>
            <a:pPr>
              <a:defRPr sz="1600"/>
            </a:pPr>
            <a:r>
              <a:t>緯創:疑似負面 2 篇(命中:抄襲)</a:t>
            </a:r>
          </a:p>
          <a:p>
            <a:pPr>
              <a:defRPr sz="1600"/>
            </a:pPr>
            <a:r>
              <a:t>輝達:疑似負面 2 篇(命中:抄襲、抵制、資安事件)</a:t>
            </a:r>
          </a:p>
          <a:p>
            <a:pPr>
              <a:defRPr sz="1600"/>
            </a:pPr>
            <a:r>
              <a:t>美光:疑似負面 2 篇(命中:罷工)</a:t>
            </a:r>
          </a:p>
          <a:p>
            <a:pPr>
              <a:defRPr sz="1600"/>
            </a:pPr>
            <a:r>
              <a:t>清大:疑似負面 1 篇(命中:違法)</a:t>
            </a:r>
          </a:p>
          <a:p>
            <a:pPr>
              <a:defRPr sz="1600"/>
            </a:pPr>
            <a:r>
              <a:t>※ 規則式偵測僅供初步示警,請人工確認報導立場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