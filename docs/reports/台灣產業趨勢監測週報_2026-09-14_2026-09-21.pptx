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住宿及餐飲業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政府教育單位</c:v>
                </c:pt>
                <c:pt idx="9">
                  <c:v>高科技製造業</c:v>
                </c:pt>
                <c:pt idx="10">
                  <c:v>金融業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60</c:v>
                </c:pt>
                <c:pt idx="1">
                  <c:v>140</c:v>
                </c:pt>
                <c:pt idx="2">
                  <c:v>180</c:v>
                </c:pt>
                <c:pt idx="3">
                  <c:v>232</c:v>
                </c:pt>
                <c:pt idx="4">
                  <c:v>302</c:v>
                </c:pt>
                <c:pt idx="5">
                  <c:v>344</c:v>
                </c:pt>
                <c:pt idx="6">
                  <c:v>354</c:v>
                </c:pt>
                <c:pt idx="7">
                  <c:v>416</c:v>
                </c:pt>
                <c:pt idx="8">
                  <c:v>756</c:v>
                </c:pt>
                <c:pt idx="9">
                  <c:v>925</c:v>
                </c:pt>
                <c:pt idx="10">
                  <c:v>944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微星</c:v>
                </c:pt>
                <c:pt idx="4">
                  <c:v>技嘉</c:v>
                </c:pt>
                <c:pt idx="5">
                  <c:v>戴爾</c:v>
                </c:pt>
                <c:pt idx="6">
                  <c:v>HP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15</c:v>
                </c:pt>
                <c:pt idx="2">
                  <c:v>15</c:v>
                </c:pt>
                <c:pt idx="3">
                  <c:v>11</c:v>
                </c:pt>
                <c:pt idx="4">
                  <c:v>7</c:v>
                </c:pt>
                <c:pt idx="5">
                  <c:v>7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微星</c:v>
                </c:pt>
                <c:pt idx="4">
                  <c:v>技嘉</c:v>
                </c:pt>
                <c:pt idx="5">
                  <c:v>戴爾</c:v>
                </c:pt>
                <c:pt idx="6">
                  <c:v>HP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28</c:v>
                </c:pt>
                <c:pt idx="1">
                  <c:v>35</c:v>
                </c:pt>
                <c:pt idx="2">
                  <c:v>10</c:v>
                </c:pt>
                <c:pt idx="3">
                  <c:v>15</c:v>
                </c:pt>
                <c:pt idx="4">
                  <c:v>4</c:v>
                </c:pt>
                <c:pt idx="5">
                  <c:v>10</c:v>
                </c:pt>
                <c:pt idx="6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英特爾</c:v>
                </c:pt>
                <c:pt idx="4">
                  <c:v>三星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208</c:v>
                </c:pt>
                <c:pt idx="1">
                  <c:v>112</c:v>
                </c:pt>
                <c:pt idx="2">
                  <c:v>55</c:v>
                </c:pt>
                <c:pt idx="3">
                  <c:v>44</c:v>
                </c:pt>
                <c:pt idx="4">
                  <c:v>34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英特爾</c:v>
                </c:pt>
                <c:pt idx="4">
                  <c:v>三星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191</c:v>
                </c:pt>
                <c:pt idx="1">
                  <c:v>88</c:v>
                </c:pt>
                <c:pt idx="2">
                  <c:v>56</c:v>
                </c:pt>
                <c:pt idx="3">
                  <c:v>28</c:v>
                </c:pt>
                <c:pt idx="4">
                  <c:v>86</c:v>
                </c:pt>
                <c:pt idx="5">
                  <c:v>24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報告期間:2026-09-14 ~ 2026-09-21</a:t>
            </a:r>
          </a:p>
          <a:p>
            <a:r>
              <a:t>產出:2026-09-21 19:03(台北時間)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9232 篇公開報導,可歸類 4653 篇</a:t>
            </a:r>
          </a:p>
          <a:p>
            <a:pPr>
              <a:defRPr sz="1600"/>
            </a:pPr>
            <a:r>
              <a:t>金融業:944 篇(佔可歸類 20.3%)</a:t>
            </a:r>
          </a:p>
          <a:p>
            <a:pPr>
              <a:defRPr sz="1600"/>
            </a:pPr>
            <a:r>
              <a:t>高科技製造業:925 篇(佔可歸類 19.9%)</a:t>
            </a:r>
          </a:p>
          <a:p>
            <a:pPr>
              <a:defRPr sz="1600"/>
            </a:pPr>
            <a:r>
              <a:t>政府教育單位:756 篇(佔可歸類 16.2%)</a:t>
            </a:r>
          </a:p>
          <a:p>
            <a:pPr>
              <a:defRPr sz="1600"/>
            </a:pPr>
            <a:r>
              <a:t>最熱主題:AI 與自動化(1012 篇)、利率與資金環境(496 篇)、人力與人口結構(255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93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474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7 篇(命中:求償、火災、詐欺、詐騙)</a:t>
            </a:r>
          </a:p>
          <a:p>
            <a:pPr>
              <a:defRPr sz="1600"/>
            </a:pPr>
            <a:r>
              <a:t>長榮航空:疑似負面 6 篇(命中:外洩、爆炸、資安事件、駭客)</a:t>
            </a:r>
          </a:p>
          <a:p>
            <a:pPr>
              <a:defRPr sz="1600"/>
            </a:pPr>
            <a:r>
              <a:t>合庫金:疑似負面 5 篇(命中:外洩、工安、詐欺、詐騙)</a:t>
            </a:r>
          </a:p>
          <a:p>
            <a:pPr>
              <a:defRPr sz="1600"/>
            </a:pPr>
            <a:r>
              <a:t>台積電:疑似負面 5 篇(命中:求償、爆炸、瑕疵、詐欺)</a:t>
            </a:r>
          </a:p>
          <a:p>
            <a:pPr>
              <a:defRPr sz="1600"/>
            </a:pPr>
            <a:r>
              <a:t>華南金:疑似負面 2 篇(命中:詐騙)</a:t>
            </a:r>
          </a:p>
          <a:p>
            <a:pPr>
              <a:defRPr sz="1600"/>
            </a:pPr>
            <a:r>
              <a:t>緯創:疑似負面 2 篇(命中:抄襲)</a:t>
            </a:r>
          </a:p>
          <a:p>
            <a:pPr>
              <a:defRPr sz="1600"/>
            </a:pPr>
            <a:r>
              <a:t>輝達:疑似負面 2 篇(命中:抄襲、抵制、資安事件)</a:t>
            </a:r>
          </a:p>
          <a:p>
            <a:pPr>
              <a:defRPr sz="1600"/>
            </a:pPr>
            <a:r>
              <a:t>美光:疑似負面 2 篇(命中:罷工)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