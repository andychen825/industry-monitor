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批發零售業</c:v>
                </c:pt>
                <c:pt idx="2">
                  <c:v>專業科學及技術服務業</c:v>
                </c:pt>
                <c:pt idx="3">
                  <c:v>服務業</c:v>
                </c:pt>
                <c:pt idx="4">
                  <c:v>傳統製造業</c:v>
                </c:pt>
                <c:pt idx="5">
                  <c:v>住宿及餐飲業</c:v>
                </c:pt>
                <c:pt idx="6">
                  <c:v>資通訊業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政府教育單位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113</c:v>
                </c:pt>
                <c:pt idx="1">
                  <c:v>170</c:v>
                </c:pt>
                <c:pt idx="2">
                  <c:v>223</c:v>
                </c:pt>
                <c:pt idx="3">
                  <c:v>242</c:v>
                </c:pt>
                <c:pt idx="4">
                  <c:v>244</c:v>
                </c:pt>
                <c:pt idx="5">
                  <c:v>293</c:v>
                </c:pt>
                <c:pt idx="6">
                  <c:v>331</c:v>
                </c:pt>
                <c:pt idx="7">
                  <c:v>374</c:v>
                </c:pt>
                <c:pt idx="8">
                  <c:v>854</c:v>
                </c:pt>
                <c:pt idx="9">
                  <c:v>1010</c:v>
                </c:pt>
                <c:pt idx="10">
                  <c:v>1093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22</c:v>
                </c:pt>
                <c:pt idx="2">
                  <c:v>13</c:v>
                </c:pt>
                <c:pt idx="3">
                  <c:v>11</c:v>
                </c:pt>
                <c:pt idx="4">
                  <c:v>11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155</c:v>
                </c:pt>
                <c:pt idx="2">
                  <c:v>49</c:v>
                </c:pt>
                <c:pt idx="3">
                  <c:v>38</c:v>
                </c:pt>
                <c:pt idx="4">
                  <c:v>27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三星</c:v>
                </c:pt>
                <c:pt idx="3">
                  <c:v>聯發科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260</c:v>
                </c:pt>
                <c:pt idx="1">
                  <c:v>125</c:v>
                </c:pt>
                <c:pt idx="2">
                  <c:v>40</c:v>
                </c:pt>
                <c:pt idx="3">
                  <c:v>47</c:v>
                </c:pt>
                <c:pt idx="4">
                  <c:v>44</c:v>
                </c:pt>
                <c:pt idx="5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報告期間:2026-10-12 ~ 2026-10-19</a:t>
            </a:r>
          </a:p>
          <a:p>
            <a:r>
              <a:t>產出:2026-10-19 17:56(台北時間)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9517 篇公開報導,可歸類 4947 篇</a:t>
            </a:r>
          </a:p>
          <a:p>
            <a:pPr>
              <a:defRPr sz="1600"/>
            </a:pPr>
            <a:r>
              <a:t>高科技製造業:1093 篇(佔可歸類 22.1%)</a:t>
            </a:r>
          </a:p>
          <a:p>
            <a:pPr>
              <a:defRPr sz="1600"/>
            </a:pPr>
            <a:r>
              <a:t>政府教育單位:1010 篇(佔可歸類 20.4%)</a:t>
            </a:r>
          </a:p>
          <a:p>
            <a:pPr>
              <a:defRPr sz="1600"/>
            </a:pPr>
            <a:r>
              <a:t>金融業:854 篇(佔可歸類 17.3%)</a:t>
            </a:r>
          </a:p>
          <a:p>
            <a:pPr>
              <a:defRPr sz="1600"/>
            </a:pPr>
            <a:r>
              <a:t>最熱主題:AI 與自動化(1126 篇)、利率與資金環境(390 篇)、地緣政治與供應鏈(281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61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595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中華電信:疑似負面 12 篇(命中:工安、罷工、詐騙、跳票)</a:t>
            </a:r>
          </a:p>
          <a:p>
            <a:pPr>
              <a:defRPr sz="1600"/>
            </a:pPr>
            <a:r>
              <a:t>Meta:疑似負面 5 篇(命中:倒閉、弊案、求償、罰鍰)</a:t>
            </a:r>
          </a:p>
          <a:p>
            <a:pPr>
              <a:defRPr sz="1600"/>
            </a:pPr>
            <a:r>
              <a:t>台泥:疑似負面 4 篇(命中:求償、背信、起訴)</a:t>
            </a:r>
          </a:p>
          <a:p>
            <a:pPr>
              <a:defRPr sz="1600"/>
            </a:pPr>
            <a:r>
              <a:t>美光:疑似負面 3 篇(命中:罷工)</a:t>
            </a:r>
          </a:p>
          <a:p>
            <a:pPr>
              <a:defRPr sz="1600"/>
            </a:pPr>
            <a:r>
              <a:t>星巴克:疑似負面 3 篇(命中:下架、抵制、求償)</a:t>
            </a:r>
          </a:p>
          <a:p>
            <a:pPr>
              <a:defRPr sz="1600"/>
            </a:pPr>
            <a:r>
              <a:t>晶華:疑似負面 2 篇(命中:缺陷、違規)</a:t>
            </a:r>
          </a:p>
          <a:p>
            <a:pPr>
              <a:defRPr sz="1600"/>
            </a:pPr>
            <a:r>
              <a:t>台大:疑似負面 2 篇(命中:起訴、醜聞)</a:t>
            </a:r>
          </a:p>
          <a:p>
            <a:pPr>
              <a:defRPr sz="1600"/>
            </a:pPr>
            <a:r>
              <a:t>台大醫院:疑似負面 2 篇(命中:起訴、醜聞)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