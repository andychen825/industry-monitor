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批發零售業</c:v>
                </c:pt>
                <c:pt idx="2">
                  <c:v>專業科學及技術服務業</c:v>
                </c:pt>
                <c:pt idx="3">
                  <c:v>傳統製造業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114</c:v>
                </c:pt>
                <c:pt idx="1">
                  <c:v>173</c:v>
                </c:pt>
                <c:pt idx="2">
                  <c:v>227</c:v>
                </c:pt>
                <c:pt idx="3">
                  <c:v>245</c:v>
                </c:pt>
                <c:pt idx="4">
                  <c:v>245</c:v>
                </c:pt>
                <c:pt idx="5">
                  <c:v>296</c:v>
                </c:pt>
                <c:pt idx="6">
                  <c:v>344</c:v>
                </c:pt>
                <c:pt idx="7">
                  <c:v>386</c:v>
                </c:pt>
                <c:pt idx="8">
                  <c:v>876</c:v>
                </c:pt>
                <c:pt idx="9">
                  <c:v>1031</c:v>
                </c:pt>
                <c:pt idx="10">
                  <c:v>1118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微星</c:v>
                </c:pt>
                <c:pt idx="3">
                  <c:v>技嘉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11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4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微星</c:v>
                </c:pt>
                <c:pt idx="3">
                  <c:v>技嘉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</c:v>
                </c:pt>
                <c:pt idx="1">
                  <c:v>22</c:v>
                </c:pt>
                <c:pt idx="2">
                  <c:v>11</c:v>
                </c:pt>
                <c:pt idx="3">
                  <c:v>13</c:v>
                </c:pt>
                <c:pt idx="4">
                  <c:v>11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304</c:v>
                </c:pt>
                <c:pt idx="1">
                  <c:v>158</c:v>
                </c:pt>
                <c:pt idx="2">
                  <c:v>50</c:v>
                </c:pt>
                <c:pt idx="3">
                  <c:v>39</c:v>
                </c:pt>
                <c:pt idx="4">
                  <c:v>28</c:v>
                </c:pt>
                <c:pt idx="5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260</c:v>
                </c:pt>
                <c:pt idx="1">
                  <c:v>125</c:v>
                </c:pt>
                <c:pt idx="2">
                  <c:v>40</c:v>
                </c:pt>
                <c:pt idx="3">
                  <c:v>47</c:v>
                </c:pt>
                <c:pt idx="4">
                  <c:v>27</c:v>
                </c:pt>
                <c:pt idx="5">
                  <c:v>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報告期間:2026-10-12 ~ 2026-10-19</a:t>
            </a:r>
          </a:p>
          <a:p>
            <a:r>
              <a:t>產出:2026-10-19 19:11(台北時間)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9729 篇公開報導,可歸類 5055 篇</a:t>
            </a:r>
          </a:p>
          <a:p>
            <a:pPr>
              <a:defRPr sz="1600"/>
            </a:pPr>
            <a:r>
              <a:t>高科技製造業:1118 篇(佔可歸類 22.1%)</a:t>
            </a:r>
          </a:p>
          <a:p>
            <a:pPr>
              <a:defRPr sz="1600"/>
            </a:pPr>
            <a:r>
              <a:t>政府教育單位:1031 篇(佔可歸類 20.4%)</a:t>
            </a:r>
          </a:p>
          <a:p>
            <a:pPr>
              <a:defRPr sz="1600"/>
            </a:pPr>
            <a:r>
              <a:t>金融業:876 篇(佔可歸類 17.3%)</a:t>
            </a:r>
          </a:p>
          <a:p>
            <a:pPr>
              <a:defRPr sz="1600"/>
            </a:pPr>
            <a:r>
              <a:t>最熱主題:AI 與自動化(1152 篇)、利率與資金環境(398 篇)、地緣政治與供應鏈(284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64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607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中華電信:疑似負面 13 篇(命中:工安、罷工、詐騙、跳票)</a:t>
            </a:r>
          </a:p>
          <a:p>
            <a:pPr>
              <a:defRPr sz="1600"/>
            </a:pPr>
            <a:r>
              <a:t>Meta:疑似負面 5 篇(命中:倒閉、弊案、求償、罰鍰)</a:t>
            </a:r>
          </a:p>
          <a:p>
            <a:pPr>
              <a:defRPr sz="1600"/>
            </a:pPr>
            <a:r>
              <a:t>台泥:疑似負面 4 篇(命中:求償、背信、起訴)</a:t>
            </a:r>
          </a:p>
          <a:p>
            <a:pPr>
              <a:defRPr sz="1600"/>
            </a:pPr>
            <a:r>
              <a:t>美光:疑似負面 3 篇(命中:罷工)</a:t>
            </a:r>
          </a:p>
          <a:p>
            <a:pPr>
              <a:defRPr sz="1600"/>
            </a:pPr>
            <a:r>
              <a:t>星巴克:疑似負面 3 篇(命中:下架、抵制、求償)</a:t>
            </a:r>
          </a:p>
          <a:p>
            <a:pPr>
              <a:defRPr sz="1600"/>
            </a:pPr>
            <a:r>
              <a:t>晶華:疑似負面 2 篇(命中:缺陷、違規)</a:t>
            </a:r>
          </a:p>
          <a:p>
            <a:pPr>
              <a:defRPr sz="1600"/>
            </a:pPr>
            <a:r>
              <a:t>台大:疑似負面 2 篇(命中:起訴、醜聞)</a:t>
            </a:r>
          </a:p>
          <a:p>
            <a:pPr>
              <a:defRPr sz="1600"/>
            </a:pPr>
            <a:r>
              <a:t>台大醫院:疑似負面 2 篇(命中:起訴、醜聞)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