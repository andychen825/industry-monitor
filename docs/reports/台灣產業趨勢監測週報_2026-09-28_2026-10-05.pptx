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專業科學及技術服務業</c:v>
                </c:pt>
                <c:pt idx="4">
                  <c:v>服務業</c:v>
                </c:pt>
                <c:pt idx="5">
                  <c:v>住宿及餐飲業</c:v>
                </c:pt>
                <c:pt idx="6">
                  <c:v>醫療保健業</c:v>
                </c:pt>
                <c:pt idx="7">
                  <c:v>資通訊業</c:v>
                </c:pt>
                <c:pt idx="8">
                  <c:v>金融業</c:v>
                </c:pt>
                <c:pt idx="9">
                  <c:v>高科技製造業</c:v>
                </c:pt>
                <c:pt idx="10">
                  <c:v>政府教育單位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</c:v>
                </c:pt>
                <c:pt idx="1">
                  <c:v>143</c:v>
                </c:pt>
                <c:pt idx="2">
                  <c:v>162</c:v>
                </c:pt>
                <c:pt idx="3">
                  <c:v>195</c:v>
                </c:pt>
                <c:pt idx="4">
                  <c:v>262</c:v>
                </c:pt>
                <c:pt idx="5">
                  <c:v>294</c:v>
                </c:pt>
                <c:pt idx="6">
                  <c:v>335</c:v>
                </c:pt>
                <c:pt idx="7">
                  <c:v>346</c:v>
                </c:pt>
                <c:pt idx="8">
                  <c:v>682</c:v>
                </c:pt>
                <c:pt idx="9">
                  <c:v>881</c:v>
                </c:pt>
                <c:pt idx="10">
                  <c:v>928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聯想</c:v>
                </c:pt>
                <c:pt idx="3">
                  <c:v>技嘉</c:v>
                </c:pt>
                <c:pt idx="4">
                  <c:v>HP</c:v>
                </c:pt>
                <c:pt idx="5">
                  <c:v>戴爾</c:v>
                </c:pt>
                <c:pt idx="6">
                  <c:v>微星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16</c:v>
                </c:pt>
                <c:pt idx="2">
                  <c:v>10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聯想</c:v>
                </c:pt>
                <c:pt idx="3">
                  <c:v>技嘉</c:v>
                </c:pt>
                <c:pt idx="4">
                  <c:v>HP</c:v>
                </c:pt>
                <c:pt idx="5">
                  <c:v>戴爾</c:v>
                </c:pt>
                <c:pt idx="6">
                  <c:v>微星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35</c:v>
                </c:pt>
                <c:pt idx="1">
                  <c:v>19</c:v>
                </c:pt>
                <c:pt idx="2">
                  <c:v>11</c:v>
                </c:pt>
                <c:pt idx="3">
                  <c:v>7</c:v>
                </c:pt>
                <c:pt idx="4">
                  <c:v>10</c:v>
                </c:pt>
                <c:pt idx="5">
                  <c:v>9</c:v>
                </c:pt>
                <c:pt idx="6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234</c:v>
                </c:pt>
                <c:pt idx="1">
                  <c:v>119</c:v>
                </c:pt>
                <c:pt idx="2">
                  <c:v>59</c:v>
                </c:pt>
                <c:pt idx="3">
                  <c:v>48</c:v>
                </c:pt>
                <c:pt idx="4">
                  <c:v>34</c:v>
                </c:pt>
                <c:pt idx="5">
                  <c:v>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199</c:v>
                </c:pt>
                <c:pt idx="1">
                  <c:v>114</c:v>
                </c:pt>
                <c:pt idx="2">
                  <c:v>30</c:v>
                </c:pt>
                <c:pt idx="3">
                  <c:v>63</c:v>
                </c:pt>
                <c:pt idx="4">
                  <c:v>30</c:v>
                </c:pt>
                <c:pt idx="5">
                  <c:v>32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報告期間:2026-09-28 ~ 2026-10-05</a:t>
            </a:r>
          </a:p>
          <a:p>
            <a:r>
              <a:t>產出:2026-10-05 14:32(台北時間)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8685 篇公開報導,可歸類 4279 篇</a:t>
            </a:r>
          </a:p>
          <a:p>
            <a:pPr>
              <a:defRPr sz="1600"/>
            </a:pPr>
            <a:r>
              <a:t>政府教育單位:928 篇(佔可歸類 21.7%)</a:t>
            </a:r>
          </a:p>
          <a:p>
            <a:pPr>
              <a:defRPr sz="1600"/>
            </a:pPr>
            <a:r>
              <a:t>高科技製造業:881 篇(佔可歸類 20.6%)</a:t>
            </a:r>
          </a:p>
          <a:p>
            <a:pPr>
              <a:defRPr sz="1600"/>
            </a:pPr>
            <a:r>
              <a:t>金融業:682 篇(佔可歸類 15.9%)</a:t>
            </a:r>
          </a:p>
          <a:p>
            <a:pPr>
              <a:defRPr sz="1600"/>
            </a:pPr>
            <a:r>
              <a:t>最熱主題:AI 與自動化(921 篇)、利率與資金環境(329 篇)、地緣政治與供應鏈(224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63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518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三星:疑似負面 5 篇(命中:外洩、爆炸、罰鍰、醜聞)</a:t>
            </a:r>
          </a:p>
          <a:p>
            <a:pPr>
              <a:defRPr sz="1600"/>
            </a:pPr>
            <a:r>
              <a:t>Meta:疑似負面 5 篇(命中:停工、詐騙、違法、違規)</a:t>
            </a:r>
          </a:p>
          <a:p>
            <a:pPr>
              <a:defRPr sz="1600"/>
            </a:pPr>
            <a:r>
              <a:t>蘋果:疑似負面 4 篇(命中:外洩、抄襲、裁員)</a:t>
            </a:r>
          </a:p>
          <a:p>
            <a:pPr>
              <a:defRPr sz="1600"/>
            </a:pPr>
            <a:r>
              <a:t>台大:疑似負面 3 篇(命中:抄襲)</a:t>
            </a:r>
          </a:p>
          <a:p>
            <a:pPr>
              <a:defRPr sz="1600"/>
            </a:pPr>
            <a:r>
              <a:t>全聯:疑似負面 3 篇(命中:罰鍰、裁罰)</a:t>
            </a:r>
          </a:p>
          <a:p>
            <a:pPr>
              <a:defRPr sz="1600"/>
            </a:pPr>
            <a:r>
              <a:t>中華電信:疑似負面 3 篇(命中:下架、罷工)</a:t>
            </a:r>
          </a:p>
          <a:p>
            <a:pPr>
              <a:defRPr sz="1600"/>
            </a:pPr>
            <a:r>
              <a:t>摩斯:疑似負面 3 篇(命中:外洩、詐騙)</a:t>
            </a:r>
          </a:p>
          <a:p>
            <a:pPr>
              <a:defRPr sz="1600"/>
            </a:pPr>
            <a:r>
              <a:t>台積電:疑似負面 2 篇(命中:爆炸、詐欺)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