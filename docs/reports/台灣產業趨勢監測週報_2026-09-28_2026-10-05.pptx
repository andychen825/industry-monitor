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傳統製造業</c:v>
                </c:pt>
                <c:pt idx="2">
                  <c:v>批發零售業</c:v>
                </c:pt>
                <c:pt idx="3">
                  <c:v>專業科學及技術服務業</c:v>
                </c:pt>
                <c:pt idx="4">
                  <c:v>服務業</c:v>
                </c:pt>
                <c:pt idx="5">
                  <c:v>住宿及餐飲業</c:v>
                </c:pt>
                <c:pt idx="6">
                  <c:v>醫療保健業</c:v>
                </c:pt>
                <c:pt idx="7">
                  <c:v>資通訊業</c:v>
                </c:pt>
                <c:pt idx="8">
                  <c:v>金融業</c:v>
                </c:pt>
                <c:pt idx="9">
                  <c:v>高科技製造業</c:v>
                </c:pt>
                <c:pt idx="10">
                  <c:v>政府教育單位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55</c:v>
                </c:pt>
                <c:pt idx="1">
                  <c:v>157</c:v>
                </c:pt>
                <c:pt idx="2">
                  <c:v>171</c:v>
                </c:pt>
                <c:pt idx="3">
                  <c:v>208</c:v>
                </c:pt>
                <c:pt idx="4">
                  <c:v>299</c:v>
                </c:pt>
                <c:pt idx="5">
                  <c:v>313</c:v>
                </c:pt>
                <c:pt idx="6">
                  <c:v>360</c:v>
                </c:pt>
                <c:pt idx="7">
                  <c:v>373</c:v>
                </c:pt>
                <c:pt idx="8">
                  <c:v>733</c:v>
                </c:pt>
                <c:pt idx="9">
                  <c:v>958</c:v>
                </c:pt>
                <c:pt idx="10">
                  <c:v>985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華碩</c:v>
                </c:pt>
                <c:pt idx="2">
                  <c:v>聯想</c:v>
                </c:pt>
                <c:pt idx="3">
                  <c:v>技嘉</c:v>
                </c:pt>
                <c:pt idx="4">
                  <c:v>HP</c:v>
                </c:pt>
                <c:pt idx="5">
                  <c:v>戴爾</c:v>
                </c:pt>
                <c:pt idx="6">
                  <c:v>微星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16</c:v>
                </c:pt>
                <c:pt idx="2">
                  <c:v>11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華碩</c:v>
                </c:pt>
                <c:pt idx="2">
                  <c:v>聯想</c:v>
                </c:pt>
                <c:pt idx="3">
                  <c:v>技嘉</c:v>
                </c:pt>
                <c:pt idx="4">
                  <c:v>HP</c:v>
                </c:pt>
                <c:pt idx="5">
                  <c:v>戴爾</c:v>
                </c:pt>
                <c:pt idx="6">
                  <c:v>微星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35</c:v>
                </c:pt>
                <c:pt idx="1">
                  <c:v>19</c:v>
                </c:pt>
                <c:pt idx="2">
                  <c:v>11</c:v>
                </c:pt>
                <c:pt idx="3">
                  <c:v>7</c:v>
                </c:pt>
                <c:pt idx="4">
                  <c:v>10</c:v>
                </c:pt>
                <c:pt idx="5">
                  <c:v>9</c:v>
                </c:pt>
                <c:pt idx="6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三星</c:v>
                </c:pt>
                <c:pt idx="3">
                  <c:v>聯發科</c:v>
                </c:pt>
                <c:pt idx="4">
                  <c:v>超微</c:v>
                </c:pt>
                <c:pt idx="5">
                  <c:v>英特爾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253</c:v>
                </c:pt>
                <c:pt idx="1">
                  <c:v>123</c:v>
                </c:pt>
                <c:pt idx="2">
                  <c:v>60</c:v>
                </c:pt>
                <c:pt idx="3">
                  <c:v>53</c:v>
                </c:pt>
                <c:pt idx="4">
                  <c:v>34</c:v>
                </c:pt>
                <c:pt idx="5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三星</c:v>
                </c:pt>
                <c:pt idx="3">
                  <c:v>聯發科</c:v>
                </c:pt>
                <c:pt idx="4">
                  <c:v>超微</c:v>
                </c:pt>
                <c:pt idx="5">
                  <c:v>英特爾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199</c:v>
                </c:pt>
                <c:pt idx="1">
                  <c:v>114</c:v>
                </c:pt>
                <c:pt idx="2">
                  <c:v>30</c:v>
                </c:pt>
                <c:pt idx="3">
                  <c:v>63</c:v>
                </c:pt>
                <c:pt idx="4">
                  <c:v>30</c:v>
                </c:pt>
                <c:pt idx="5">
                  <c:v>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報告期間:2026-09-28 ~ 2026-10-05</a:t>
            </a:r>
          </a:p>
          <a:p>
            <a:r>
              <a:t>產出:2026-10-05 20:38(台北時間)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9315 篇公開報導,可歸類 4612 篇</a:t>
            </a:r>
          </a:p>
          <a:p>
            <a:pPr>
              <a:defRPr sz="1600"/>
            </a:pPr>
            <a:r>
              <a:t>政府教育單位:985 篇(佔可歸類 21.4%)</a:t>
            </a:r>
          </a:p>
          <a:p>
            <a:pPr>
              <a:defRPr sz="1600"/>
            </a:pPr>
            <a:r>
              <a:t>高科技製造業:958 篇(佔可歸類 20.8%)</a:t>
            </a:r>
          </a:p>
          <a:p>
            <a:pPr>
              <a:defRPr sz="1600"/>
            </a:pPr>
            <a:r>
              <a:t>金融業:733 篇(佔可歸類 15.9%)</a:t>
            </a:r>
          </a:p>
          <a:p>
            <a:pPr>
              <a:defRPr sz="1600"/>
            </a:pPr>
            <a:r>
              <a:t>最熱主題:AI 與自動化(991 篇)、利率與資金環境(344 篇)、地緣政治與供應鏈(237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64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548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三星:疑似負面 5 篇(命中:外洩、爆炸、罰鍰、醜聞)</a:t>
            </a:r>
          </a:p>
          <a:p>
            <a:pPr>
              <a:defRPr sz="1600"/>
            </a:pPr>
            <a:r>
              <a:t>Meta:疑似負面 5 篇(命中:停工、詐騙、違法、違規)</a:t>
            </a:r>
          </a:p>
          <a:p>
            <a:pPr>
              <a:defRPr sz="1600"/>
            </a:pPr>
            <a:r>
              <a:t>蘋果:疑似負面 4 篇(命中:外洩、抄襲、裁員)</a:t>
            </a:r>
          </a:p>
          <a:p>
            <a:pPr>
              <a:defRPr sz="1600"/>
            </a:pPr>
            <a:r>
              <a:t>台大:疑似負面 3 篇(命中:抄襲)</a:t>
            </a:r>
          </a:p>
          <a:p>
            <a:pPr>
              <a:defRPr sz="1600"/>
            </a:pPr>
            <a:r>
              <a:t>全聯:疑似負面 3 篇(命中:罰鍰、裁罰)</a:t>
            </a:r>
          </a:p>
          <a:p>
            <a:pPr>
              <a:defRPr sz="1600"/>
            </a:pPr>
            <a:r>
              <a:t>中華電信:疑似負面 3 篇(命中:下架、罷工)</a:t>
            </a:r>
          </a:p>
          <a:p>
            <a:pPr>
              <a:defRPr sz="1600"/>
            </a:pPr>
            <a:r>
              <a:t>摩斯:疑似負面 3 篇(命中:外洩、詐騙)</a:t>
            </a:r>
          </a:p>
          <a:p>
            <a:pPr>
              <a:defRPr sz="1600"/>
            </a:pPr>
            <a:r>
              <a:t>台積電:疑似負面 2 篇(命中:爆炸、詐欺)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