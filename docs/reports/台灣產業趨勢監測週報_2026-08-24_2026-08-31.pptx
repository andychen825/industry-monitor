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住宿及餐飲業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</c:v>
                </c:pt>
                <c:pt idx="1">
                  <c:v>122</c:v>
                </c:pt>
                <c:pt idx="2">
                  <c:v>130</c:v>
                </c:pt>
                <c:pt idx="3">
                  <c:v>190</c:v>
                </c:pt>
                <c:pt idx="4">
                  <c:v>204</c:v>
                </c:pt>
                <c:pt idx="5">
                  <c:v>246</c:v>
                </c:pt>
                <c:pt idx="6">
                  <c:v>281</c:v>
                </c:pt>
                <c:pt idx="7">
                  <c:v>360</c:v>
                </c:pt>
                <c:pt idx="8">
                  <c:v>854</c:v>
                </c:pt>
                <c:pt idx="9">
                  <c:v>903</c:v>
                </c:pt>
                <c:pt idx="10">
                  <c:v>1007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10</c:v>
                </c:pt>
                <c:pt idx="2">
                  <c:v>8</c:v>
                </c:pt>
                <c:pt idx="3">
                  <c:v>7</c:v>
                </c:pt>
                <c:pt idx="4">
                  <c:v>6</c:v>
                </c:pt>
                <c:pt idx="5">
                  <c:v>5</c:v>
                </c:pt>
                <c:pt idx="6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</c:v>
                </c:pt>
                <c:pt idx="1">
                  <c:v>15</c:v>
                </c:pt>
                <c:pt idx="2">
                  <c:v>16</c:v>
                </c:pt>
                <c:pt idx="3">
                  <c:v>10</c:v>
                </c:pt>
                <c:pt idx="4">
                  <c:v>10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輝達</c:v>
                </c:pt>
                <c:pt idx="1">
                  <c:v>台積電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222</c:v>
                </c:pt>
                <c:pt idx="1">
                  <c:v>204</c:v>
                </c:pt>
                <c:pt idx="2">
                  <c:v>47</c:v>
                </c:pt>
                <c:pt idx="3">
                  <c:v>33</c:v>
                </c:pt>
                <c:pt idx="4">
                  <c:v>19</c:v>
                </c:pt>
                <c:pt idx="5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輝達</c:v>
                </c:pt>
                <c:pt idx="1">
                  <c:v>台積電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</c:v>
                </c:pt>
                <c:pt idx="1">
                  <c:v>208</c:v>
                </c:pt>
                <c:pt idx="2">
                  <c:v>59</c:v>
                </c:pt>
                <c:pt idx="3">
                  <c:v>47</c:v>
                </c:pt>
                <c:pt idx="4">
                  <c:v>22</c:v>
                </c:pt>
                <c:pt idx="5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報告期間:2026-08-24 ~ 2026-08-31</a:t>
            </a:r>
          </a:p>
          <a:p>
            <a:r>
              <a:t>產出:2026-08-31 18:51(台北時間)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8703 篇公開報導,可歸類 4324 篇</a:t>
            </a:r>
          </a:p>
          <a:p>
            <a:pPr>
              <a:defRPr sz="1600"/>
            </a:pPr>
            <a:r>
              <a:t>政府教育單位:1007 篇(佔可歸類 23.3%)</a:t>
            </a:r>
          </a:p>
          <a:p>
            <a:pPr>
              <a:defRPr sz="1600"/>
            </a:pPr>
            <a:r>
              <a:t>高科技製造業:903 篇(佔可歸類 20.9%)</a:t>
            </a:r>
          </a:p>
          <a:p>
            <a:pPr>
              <a:defRPr sz="1600"/>
            </a:pPr>
            <a:r>
              <a:t>金融業:854 篇(佔可歸類 19.8%)</a:t>
            </a:r>
          </a:p>
          <a:p>
            <a:pPr>
              <a:defRPr sz="1600"/>
            </a:pPr>
            <a:r>
              <a:t>最熱主題:AI 與自動化(816 篇)、利率與資金環境(363 篇)、地緣政治與供應鏈(275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63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540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12 篇(命中:下架、抵制、求償、詐騙)</a:t>
            </a:r>
          </a:p>
          <a:p>
            <a:pPr>
              <a:defRPr sz="1600"/>
            </a:pPr>
            <a:r>
              <a:t>輝達:疑似負面 6 篇(命中:爆炸、背信、起訴)</a:t>
            </a:r>
          </a:p>
          <a:p>
            <a:pPr>
              <a:defRPr sz="1600"/>
            </a:pPr>
            <a:r>
              <a:t>台積電:疑似負面 5 篇(命中:爆炸、缺陷、罰款、罷工)</a:t>
            </a:r>
          </a:p>
          <a:p>
            <a:pPr>
              <a:defRPr sz="1600"/>
            </a:pPr>
            <a:r>
              <a:t>台大:疑似負面 5 篇(命中:抵制、求償、詐騙、起訴)</a:t>
            </a:r>
          </a:p>
          <a:p>
            <a:pPr>
              <a:defRPr sz="1600"/>
            </a:pPr>
            <a:r>
              <a:t>國泰金:疑似負面 4 篇(命中:裁罰、詐欺)</a:t>
            </a:r>
          </a:p>
          <a:p>
            <a:pPr>
              <a:defRPr sz="1600"/>
            </a:pPr>
            <a:r>
              <a:t>超微:疑似負面 3 篇(命中:背信、起訴)</a:t>
            </a:r>
          </a:p>
          <a:p>
            <a:pPr>
              <a:defRPr sz="1600"/>
            </a:pPr>
            <a:r>
              <a:t>清大:疑似負面 2 篇(命中:爆炸、起訴)</a:t>
            </a:r>
          </a:p>
          <a:p>
            <a:pPr>
              <a:defRPr sz="1600"/>
            </a:pPr>
            <a:r>
              <a:t>Google:疑似負面 2 篇(命中:詐騙)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