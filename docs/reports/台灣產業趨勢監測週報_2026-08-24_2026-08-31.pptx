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篇數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保險業</c:v>
                </c:pt>
                <c:pt idx="1">
                  <c:v>傳統製造業</c:v>
                </c:pt>
                <c:pt idx="2">
                  <c:v>批發零售業</c:v>
                </c:pt>
                <c:pt idx="3">
                  <c:v>專業科學及技術服務業</c:v>
                </c:pt>
                <c:pt idx="4">
                  <c:v>住宿及餐飲業</c:v>
                </c:pt>
                <c:pt idx="5">
                  <c:v>服務業</c:v>
                </c:pt>
                <c:pt idx="6">
                  <c:v>資通訊業</c:v>
                </c:pt>
                <c:pt idx="7">
                  <c:v>醫療保健業</c:v>
                </c:pt>
                <c:pt idx="8">
                  <c:v>金融業</c:v>
                </c:pt>
                <c:pt idx="9">
                  <c:v>高科技製造業</c:v>
                </c:pt>
                <c:pt idx="10">
                  <c:v>政府教育單位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27</c:v>
                </c:pt>
                <c:pt idx="1">
                  <c:v>124</c:v>
                </c:pt>
                <c:pt idx="2">
                  <c:v>131</c:v>
                </c:pt>
                <c:pt idx="3">
                  <c:v>193</c:v>
                </c:pt>
                <c:pt idx="4">
                  <c:v>209</c:v>
                </c:pt>
                <c:pt idx="5">
                  <c:v>251</c:v>
                </c:pt>
                <c:pt idx="6">
                  <c:v>289</c:v>
                </c:pt>
                <c:pt idx="7">
                  <c:v>366</c:v>
                </c:pt>
                <c:pt idx="8">
                  <c:v>864</c:v>
                </c:pt>
                <c:pt idx="9">
                  <c:v>913</c:v>
                </c:pt>
                <c:pt idx="10">
                  <c:v>1036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本期篇數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華碩</c:v>
                </c:pt>
                <c:pt idx="1">
                  <c:v>宏碁</c:v>
                </c:pt>
                <c:pt idx="2">
                  <c:v>技嘉</c:v>
                </c:pt>
                <c:pt idx="3">
                  <c:v>微星</c:v>
                </c:pt>
                <c:pt idx="4">
                  <c:v>聯想</c:v>
                </c:pt>
                <c:pt idx="5">
                  <c:v>HP</c:v>
                </c:pt>
                <c:pt idx="6">
                  <c:v>戴爾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</c:v>
                </c:pt>
                <c:pt idx="1">
                  <c:v>10</c:v>
                </c:pt>
                <c:pt idx="2">
                  <c:v>8</c:v>
                </c:pt>
                <c:pt idx="3">
                  <c:v>7</c:v>
                </c:pt>
                <c:pt idx="4">
                  <c:v>7</c:v>
                </c:pt>
                <c:pt idx="5">
                  <c:v>5</c:v>
                </c:pt>
                <c:pt idx="6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前期篇數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華碩</c:v>
                </c:pt>
                <c:pt idx="1">
                  <c:v>宏碁</c:v>
                </c:pt>
                <c:pt idx="2">
                  <c:v>技嘉</c:v>
                </c:pt>
                <c:pt idx="3">
                  <c:v>微星</c:v>
                </c:pt>
                <c:pt idx="4">
                  <c:v>聯想</c:v>
                </c:pt>
                <c:pt idx="5">
                  <c:v>HP</c:v>
                </c:pt>
                <c:pt idx="6">
                  <c:v>戴爾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26</c:v>
                </c:pt>
                <c:pt idx="1">
                  <c:v>15</c:v>
                </c:pt>
                <c:pt idx="2">
                  <c:v>16</c:v>
                </c:pt>
                <c:pt idx="3">
                  <c:v>10</c:v>
                </c:pt>
                <c:pt idx="4">
                  <c:v>10</c:v>
                </c:pt>
                <c:pt idx="5">
                  <c:v>6</c:v>
                </c:pt>
                <c:pt idx="6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本期篇數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輝達</c:v>
                </c:pt>
                <c:pt idx="1">
                  <c:v>台積電</c:v>
                </c:pt>
                <c:pt idx="2">
                  <c:v>三星</c:v>
                </c:pt>
                <c:pt idx="3">
                  <c:v>聯發科</c:v>
                </c:pt>
                <c:pt idx="4">
                  <c:v>英特爾</c:v>
                </c:pt>
                <c:pt idx="5">
                  <c:v>超微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225</c:v>
                </c:pt>
                <c:pt idx="1">
                  <c:v>207</c:v>
                </c:pt>
                <c:pt idx="2">
                  <c:v>47</c:v>
                </c:pt>
                <c:pt idx="3">
                  <c:v>33</c:v>
                </c:pt>
                <c:pt idx="4">
                  <c:v>19</c:v>
                </c:pt>
                <c:pt idx="5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前期篇數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輝達</c:v>
                </c:pt>
                <c:pt idx="1">
                  <c:v>台積電</c:v>
                </c:pt>
                <c:pt idx="2">
                  <c:v>三星</c:v>
                </c:pt>
                <c:pt idx="3">
                  <c:v>聯發科</c:v>
                </c:pt>
                <c:pt idx="4">
                  <c:v>英特爾</c:v>
                </c:pt>
                <c:pt idx="5">
                  <c:v>超微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120</c:v>
                </c:pt>
                <c:pt idx="1">
                  <c:v>208</c:v>
                </c:pt>
                <c:pt idx="2">
                  <c:v>59</c:v>
                </c:pt>
                <c:pt idx="3">
                  <c:v>47</c:v>
                </c:pt>
                <c:pt idx="4">
                  <c:v>22</c:v>
                </c:pt>
                <c:pt idx="5">
                  <c:v>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台灣產業趨勢監測週報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報告期間:2026-08-24 ~ 2026-08-31</a:t>
            </a:r>
          </a:p>
          <a:p>
            <a:r>
              <a:t>產出:2026-08-31 19:51(台北時間)</a:t>
            </a:r>
          </a:p>
          <a:p>
            <a:r>
              <a:t>資料來源:公開新聞媒體與官方開放資料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總體結論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本期共蒐集 8883 篇公開報導,可歸類 4403 篇</a:t>
            </a:r>
          </a:p>
          <a:p>
            <a:pPr>
              <a:defRPr sz="1600"/>
            </a:pPr>
            <a:r>
              <a:t>政府教育單位:1036 篇(佔可歸類 23.5%)</a:t>
            </a:r>
          </a:p>
          <a:p>
            <a:pPr>
              <a:defRPr sz="1600"/>
            </a:pPr>
            <a:r>
              <a:t>高科技製造業:913 篇(佔可歸類 20.7%)</a:t>
            </a:r>
          </a:p>
          <a:p>
            <a:pPr>
              <a:defRPr sz="1600"/>
            </a:pPr>
            <a:r>
              <a:t>金融業:864 篇(佔可歸類 19.6%)</a:t>
            </a:r>
          </a:p>
          <a:p>
            <a:pPr>
              <a:defRPr sz="1600"/>
            </a:pPr>
            <a:r>
              <a:t>最熱主題:AI 與自動化(835 篇)、利率與資金環境(366 篇)、地緣政治與供應鏈(280 篇)</a:t>
            </a:r>
          </a:p>
          <a:p>
            <a:pPr>
              <a:defRPr sz="1600"/>
            </a:pPr>
            <a:r>
              <a:t>※ 本頁由系統統計自動生成,數據可溯源至報導原文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各產業報導篇數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競品聲量對比(SOV)— 電腦品牌(合計 64 篇)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競品聲量對比(SOV)— 半導體(合計 547 篇)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負面聲量警示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Meta:疑似負面 13 篇(命中:下架、抵制、求償、詐騙)</a:t>
            </a:r>
          </a:p>
          <a:p>
            <a:pPr>
              <a:defRPr sz="1600"/>
            </a:pPr>
            <a:r>
              <a:t>輝達:疑似負面 6 篇(命中:爆炸、背信、起訴)</a:t>
            </a:r>
          </a:p>
          <a:p>
            <a:pPr>
              <a:defRPr sz="1600"/>
            </a:pPr>
            <a:r>
              <a:t>台積電:疑似負面 5 篇(命中:爆炸、缺陷、罰款、罷工)</a:t>
            </a:r>
          </a:p>
          <a:p>
            <a:pPr>
              <a:defRPr sz="1600"/>
            </a:pPr>
            <a:r>
              <a:t>台大:疑似負面 5 篇(命中:抵制、求償、詐騙、起訴)</a:t>
            </a:r>
          </a:p>
          <a:p>
            <a:pPr>
              <a:defRPr sz="1600"/>
            </a:pPr>
            <a:r>
              <a:t>國泰金:疑似負面 4 篇(命中:裁罰、詐欺)</a:t>
            </a:r>
          </a:p>
          <a:p>
            <a:pPr>
              <a:defRPr sz="1600"/>
            </a:pPr>
            <a:r>
              <a:t>超微:疑似負面 3 篇(命中:背信、起訴)</a:t>
            </a:r>
          </a:p>
          <a:p>
            <a:pPr>
              <a:defRPr sz="1600"/>
            </a:pPr>
            <a:r>
              <a:t>清大:疑似負面 2 篇(命中:爆炸、起訴)</a:t>
            </a:r>
          </a:p>
          <a:p>
            <a:pPr>
              <a:defRPr sz="1600"/>
            </a:pPr>
            <a:r>
              <a:t>Google:疑似負面 2 篇(命中:詐騙)</a:t>
            </a:r>
          </a:p>
          <a:p>
            <a:pPr>
              <a:defRPr sz="1600"/>
            </a:pPr>
            <a:r>
              <a:t>※ 規則式偵測僅供初步示警,請人工確認報導立場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