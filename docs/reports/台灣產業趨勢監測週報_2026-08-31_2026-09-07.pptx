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37</c:v>
                </c:pt>
                <c:pt idx="1">
                  <c:v>99</c:v>
                </c:pt>
                <c:pt idx="2">
                  <c:v>152</c:v>
                </c:pt>
                <c:pt idx="3">
                  <c:v>219</c:v>
                </c:pt>
                <c:pt idx="4">
                  <c:v>242</c:v>
                </c:pt>
                <c:pt idx="5">
                  <c:v>247</c:v>
                </c:pt>
                <c:pt idx="6">
                  <c:v>267</c:v>
                </c:pt>
                <c:pt idx="7">
                  <c:v>314</c:v>
                </c:pt>
                <c:pt idx="8">
                  <c:v>891</c:v>
                </c:pt>
                <c:pt idx="9">
                  <c:v>939</c:v>
                </c:pt>
                <c:pt idx="10">
                  <c:v>1265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戴爾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技嘉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20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  <c:pt idx="5">
                  <c:v>8</c:v>
                </c:pt>
                <c:pt idx="6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戴爾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技嘉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</c:v>
                </c:pt>
                <c:pt idx="1">
                  <c:v>24</c:v>
                </c:pt>
                <c:pt idx="2">
                  <c:v>4</c:v>
                </c:pt>
                <c:pt idx="3">
                  <c:v>7</c:v>
                </c:pt>
                <c:pt idx="4">
                  <c:v>7</c:v>
                </c:pt>
                <c:pt idx="5">
                  <c:v>5</c:v>
                </c:pt>
                <c:pt idx="6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248</c:v>
                </c:pt>
                <c:pt idx="1">
                  <c:v>140</c:v>
                </c:pt>
                <c:pt idx="2">
                  <c:v>105</c:v>
                </c:pt>
                <c:pt idx="3">
                  <c:v>38</c:v>
                </c:pt>
                <c:pt idx="4">
                  <c:v>19</c:v>
                </c:pt>
                <c:pt idx="5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215</c:v>
                </c:pt>
                <c:pt idx="1">
                  <c:v>244</c:v>
                </c:pt>
                <c:pt idx="2">
                  <c:v>49</c:v>
                </c:pt>
                <c:pt idx="3">
                  <c:v>49</c:v>
                </c:pt>
                <c:pt idx="4">
                  <c:v>18</c:v>
                </c:pt>
                <c:pt idx="5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報告期間:2026-08-31 ~ 2026-09-07</a:t>
            </a:r>
          </a:p>
          <a:p>
            <a:r>
              <a:t>產出:2026-09-07 14:43(台北時間)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9532 篇公開報導,可歸類 4672 篇</a:t>
            </a:r>
          </a:p>
          <a:p>
            <a:pPr>
              <a:defRPr sz="1600"/>
            </a:pPr>
            <a:r>
              <a:t>高科技製造業:1265 篇(佔可歸類 27.1%)</a:t>
            </a:r>
          </a:p>
          <a:p>
            <a:pPr>
              <a:defRPr sz="1600"/>
            </a:pPr>
            <a:r>
              <a:t>政府教育單位:939 篇(佔可歸類 20.1%)</a:t>
            </a:r>
          </a:p>
          <a:p>
            <a:pPr>
              <a:defRPr sz="1600"/>
            </a:pPr>
            <a:r>
              <a:t>金融業:891 篇(佔可歸類 19.1%)</a:t>
            </a:r>
          </a:p>
          <a:p>
            <a:pPr>
              <a:defRPr sz="1600"/>
            </a:pPr>
            <a:r>
              <a:t>最熱主題:AI 與自動化(992 篇)、地緣政治與供應鏈(420 篇)、利率與資金環境(358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113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567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14 篇(命中:下架、判賠、求償、罰鍰)</a:t>
            </a:r>
          </a:p>
          <a:p>
            <a:pPr>
              <a:defRPr sz="1600"/>
            </a:pPr>
            <a:r>
              <a:t>美光:疑似負面 13 篇(命中:罷工)</a:t>
            </a:r>
          </a:p>
          <a:p>
            <a:pPr>
              <a:defRPr sz="1600"/>
            </a:pPr>
            <a:r>
              <a:t>Google:疑似負面 6 篇(命中:下架、詐騙)</a:t>
            </a:r>
          </a:p>
          <a:p>
            <a:pPr>
              <a:defRPr sz="1600"/>
            </a:pPr>
            <a:r>
              <a:t>Uber:疑似負面 3 篇(命中:裁員)</a:t>
            </a:r>
          </a:p>
          <a:p>
            <a:pPr>
              <a:defRPr sz="1600"/>
            </a:pPr>
            <a:r>
              <a:t>中華電信:疑似負面 2 篇(命中:工安、爆炸)</a:t>
            </a:r>
          </a:p>
          <a:p>
            <a:pPr>
              <a:defRPr sz="1600"/>
            </a:pPr>
            <a:r>
              <a:t>全聯:疑似負面 2 篇(命中:下架)</a:t>
            </a:r>
          </a:p>
          <a:p>
            <a:pPr>
              <a:defRPr sz="1600"/>
            </a:pPr>
            <a:r>
              <a:t>台積電:疑似負面 2 篇(命中:下架、掏空、詐騙)</a:t>
            </a:r>
          </a:p>
          <a:p>
            <a:pPr>
              <a:defRPr sz="1600"/>
            </a:pPr>
            <a:r>
              <a:t>國泰金:疑似負面 2 篇(命中:裁罰、詐欺)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