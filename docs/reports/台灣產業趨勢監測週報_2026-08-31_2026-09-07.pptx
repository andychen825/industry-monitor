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住宿及餐飲業</c:v>
                </c:pt>
                <c:pt idx="4">
                  <c:v>專業科學及技術服務業</c:v>
                </c:pt>
                <c:pt idx="5">
                  <c:v>服務業</c:v>
                </c:pt>
                <c:pt idx="6">
                  <c:v>資通訊業</c:v>
                </c:pt>
                <c:pt idx="7">
                  <c:v>醫療保健業</c:v>
                </c:pt>
                <c:pt idx="8">
                  <c:v>金融業</c:v>
                </c:pt>
                <c:pt idx="9">
                  <c:v>政府教育單位</c:v>
                </c:pt>
                <c:pt idx="10">
                  <c:v>高科技製造業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37</c:v>
                </c:pt>
                <c:pt idx="1">
                  <c:v>104</c:v>
                </c:pt>
                <c:pt idx="2">
                  <c:v>157</c:v>
                </c:pt>
                <c:pt idx="3">
                  <c:v>229</c:v>
                </c:pt>
                <c:pt idx="4">
                  <c:v>256</c:v>
                </c:pt>
                <c:pt idx="5">
                  <c:v>270</c:v>
                </c:pt>
                <c:pt idx="6">
                  <c:v>275</c:v>
                </c:pt>
                <c:pt idx="7">
                  <c:v>327</c:v>
                </c:pt>
                <c:pt idx="8">
                  <c:v>918</c:v>
                </c:pt>
                <c:pt idx="9">
                  <c:v>986</c:v>
                </c:pt>
                <c:pt idx="10">
                  <c:v>1297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戴爾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技嘉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</c:v>
                </c:pt>
                <c:pt idx="1">
                  <c:v>21</c:v>
                </c:pt>
                <c:pt idx="2">
                  <c:v>14</c:v>
                </c:pt>
                <c:pt idx="3">
                  <c:v>13</c:v>
                </c:pt>
                <c:pt idx="4">
                  <c:v>13</c:v>
                </c:pt>
                <c:pt idx="5">
                  <c:v>8</c:v>
                </c:pt>
                <c:pt idx="6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戴爾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技嘉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24</c:v>
                </c:pt>
                <c:pt idx="2">
                  <c:v>4</c:v>
                </c:pt>
                <c:pt idx="3">
                  <c:v>7</c:v>
                </c:pt>
                <c:pt idx="4">
                  <c:v>7</c:v>
                </c:pt>
                <c:pt idx="5">
                  <c:v>5</c:v>
                </c:pt>
                <c:pt idx="6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三星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251</c:v>
                </c:pt>
                <c:pt idx="1">
                  <c:v>143</c:v>
                </c:pt>
                <c:pt idx="2">
                  <c:v>105</c:v>
                </c:pt>
                <c:pt idx="3">
                  <c:v>40</c:v>
                </c:pt>
                <c:pt idx="4">
                  <c:v>21</c:v>
                </c:pt>
                <c:pt idx="5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三星</c:v>
                </c:pt>
                <c:pt idx="4">
                  <c:v>超微</c:v>
                </c:pt>
                <c:pt idx="5">
                  <c:v>英特爾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215</c:v>
                </c:pt>
                <c:pt idx="1">
                  <c:v>244</c:v>
                </c:pt>
                <c:pt idx="2">
                  <c:v>49</c:v>
                </c:pt>
                <c:pt idx="3">
                  <c:v>49</c:v>
                </c:pt>
                <c:pt idx="4">
                  <c:v>18</c:v>
                </c:pt>
                <c:pt idx="5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報告期間:2026-08-31 ~ 2026-09-07</a:t>
            </a:r>
          </a:p>
          <a:p>
            <a:r>
              <a:t>產出:2026-09-07 17:18(台北時間)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9862 篇公開報導,可歸類 4856 篇</a:t>
            </a:r>
          </a:p>
          <a:p>
            <a:pPr>
              <a:defRPr sz="1600"/>
            </a:pPr>
            <a:r>
              <a:t>高科技製造業:1297 篇(佔可歸類 26.7%)</a:t>
            </a:r>
          </a:p>
          <a:p>
            <a:pPr>
              <a:defRPr sz="1600"/>
            </a:pPr>
            <a:r>
              <a:t>政府教育單位:986 篇(佔可歸類 20.3%)</a:t>
            </a:r>
          </a:p>
          <a:p>
            <a:pPr>
              <a:defRPr sz="1600"/>
            </a:pPr>
            <a:r>
              <a:t>金融業:918 篇(佔可歸類 18.9%)</a:t>
            </a:r>
          </a:p>
          <a:p>
            <a:pPr>
              <a:defRPr sz="1600"/>
            </a:pPr>
            <a:r>
              <a:t>最熱主題:AI 與自動化(1028 篇)、地緣政治與供應鏈(435 篇)、利率與資金環境(367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114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578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Meta:疑似負面 14 篇(命中:下架、判賠、求償、罰鍰)</a:t>
            </a:r>
          </a:p>
          <a:p>
            <a:pPr>
              <a:defRPr sz="1600"/>
            </a:pPr>
            <a:r>
              <a:t>美光:疑似負面 13 篇(命中:罷工)</a:t>
            </a:r>
          </a:p>
          <a:p>
            <a:pPr>
              <a:defRPr sz="1600"/>
            </a:pPr>
            <a:r>
              <a:t>Google:疑似負面 8 篇(命中:下架、裁員、詐騙)</a:t>
            </a:r>
          </a:p>
          <a:p>
            <a:pPr>
              <a:defRPr sz="1600"/>
            </a:pPr>
            <a:r>
              <a:t>Uber:疑似負面 3 篇(命中:裁員)</a:t>
            </a:r>
          </a:p>
          <a:p>
            <a:pPr>
              <a:defRPr sz="1600"/>
            </a:pPr>
            <a:r>
              <a:t>中華電信:疑似負面 2 篇(命中:工安、爆炸)</a:t>
            </a:r>
          </a:p>
          <a:p>
            <a:pPr>
              <a:defRPr sz="1600"/>
            </a:pPr>
            <a:r>
              <a:t>全聯:疑似負面 2 篇(命中:下架)</a:t>
            </a:r>
          </a:p>
          <a:p>
            <a:pPr>
              <a:defRPr sz="1600"/>
            </a:pPr>
            <a:r>
              <a:t>台積電:疑似負面 2 篇(命中:下架、掏空、詐騙)</a:t>
            </a:r>
          </a:p>
          <a:p>
            <a:pPr>
              <a:defRPr sz="1600"/>
            </a:pPr>
            <a:r>
              <a:t>國泰金:疑似負面 2 篇(命中:裁罰、詐欺)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