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傳統製造業</c:v>
                </c:pt>
                <c:pt idx="2">
                  <c:v>批發零售業</c:v>
                </c:pt>
                <c:pt idx="3">
                  <c:v>住宿及餐飲業</c:v>
                </c:pt>
                <c:pt idx="4">
                  <c:v>專業科學及技術服務業</c:v>
                </c:pt>
                <c:pt idx="5">
                  <c:v>服務業</c:v>
                </c:pt>
                <c:pt idx="6">
                  <c:v>資通訊業</c:v>
                </c:pt>
                <c:pt idx="7">
                  <c:v>醫療保健業</c:v>
                </c:pt>
                <c:pt idx="8">
                  <c:v>金融業</c:v>
                </c:pt>
                <c:pt idx="9">
                  <c:v>政府教育單位</c:v>
                </c:pt>
                <c:pt idx="10">
                  <c:v>高科技製造業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38</c:v>
                </c:pt>
                <c:pt idx="1">
                  <c:v>109</c:v>
                </c:pt>
                <c:pt idx="2">
                  <c:v>163</c:v>
                </c:pt>
                <c:pt idx="3">
                  <c:v>232</c:v>
                </c:pt>
                <c:pt idx="4">
                  <c:v>269</c:v>
                </c:pt>
                <c:pt idx="5">
                  <c:v>274</c:v>
                </c:pt>
                <c:pt idx="6">
                  <c:v>278</c:v>
                </c:pt>
                <c:pt idx="7">
                  <c:v>346</c:v>
                </c:pt>
                <c:pt idx="8">
                  <c:v>939</c:v>
                </c:pt>
                <c:pt idx="9">
                  <c:v>1004</c:v>
                </c:pt>
                <c:pt idx="10">
                  <c:v>1332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華碩</c:v>
                </c:pt>
                <c:pt idx="2">
                  <c:v>戴爾</c:v>
                </c:pt>
                <c:pt idx="3">
                  <c:v>微星</c:v>
                </c:pt>
                <c:pt idx="4">
                  <c:v>聯想</c:v>
                </c:pt>
                <c:pt idx="5">
                  <c:v>HP</c:v>
                </c:pt>
                <c:pt idx="6">
                  <c:v>技嘉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42</c:v>
                </c:pt>
                <c:pt idx="1">
                  <c:v>23</c:v>
                </c:pt>
                <c:pt idx="2">
                  <c:v>14</c:v>
                </c:pt>
                <c:pt idx="3">
                  <c:v>13</c:v>
                </c:pt>
                <c:pt idx="4">
                  <c:v>13</c:v>
                </c:pt>
                <c:pt idx="5">
                  <c:v>8</c:v>
                </c:pt>
                <c:pt idx="6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華碩</c:v>
                </c:pt>
                <c:pt idx="2">
                  <c:v>戴爾</c:v>
                </c:pt>
                <c:pt idx="3">
                  <c:v>微星</c:v>
                </c:pt>
                <c:pt idx="4">
                  <c:v>聯想</c:v>
                </c:pt>
                <c:pt idx="5">
                  <c:v>HP</c:v>
                </c:pt>
                <c:pt idx="6">
                  <c:v>技嘉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</c:v>
                </c:pt>
                <c:pt idx="1">
                  <c:v>24</c:v>
                </c:pt>
                <c:pt idx="2">
                  <c:v>4</c:v>
                </c:pt>
                <c:pt idx="3">
                  <c:v>7</c:v>
                </c:pt>
                <c:pt idx="4">
                  <c:v>7</c:v>
                </c:pt>
                <c:pt idx="5">
                  <c:v>5</c:v>
                </c:pt>
                <c:pt idx="6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聯發科</c:v>
                </c:pt>
                <c:pt idx="3">
                  <c:v>三星</c:v>
                </c:pt>
                <c:pt idx="4">
                  <c:v>超微</c:v>
                </c:pt>
                <c:pt idx="5">
                  <c:v>英特爾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256</c:v>
                </c:pt>
                <c:pt idx="1">
                  <c:v>145</c:v>
                </c:pt>
                <c:pt idx="2">
                  <c:v>108</c:v>
                </c:pt>
                <c:pt idx="3">
                  <c:v>42</c:v>
                </c:pt>
                <c:pt idx="4">
                  <c:v>21</c:v>
                </c:pt>
                <c:pt idx="5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聯發科</c:v>
                </c:pt>
                <c:pt idx="3">
                  <c:v>三星</c:v>
                </c:pt>
                <c:pt idx="4">
                  <c:v>超微</c:v>
                </c:pt>
                <c:pt idx="5">
                  <c:v>英特爾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215</c:v>
                </c:pt>
                <c:pt idx="1">
                  <c:v>244</c:v>
                </c:pt>
                <c:pt idx="2">
                  <c:v>49</c:v>
                </c:pt>
                <c:pt idx="3">
                  <c:v>49</c:v>
                </c:pt>
                <c:pt idx="4">
                  <c:v>18</c:v>
                </c:pt>
                <c:pt idx="5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報告期間:2026-08-31 ~ 2026-09-07</a:t>
            </a:r>
          </a:p>
          <a:p>
            <a:r>
              <a:t>產出:2026-09-07 18:43(台北時間)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10092 篇公開報導,可歸類 4984 篇</a:t>
            </a:r>
          </a:p>
          <a:p>
            <a:pPr>
              <a:defRPr sz="1600"/>
            </a:pPr>
            <a:r>
              <a:t>高科技製造業:1332 篇(佔可歸類 26.7%)</a:t>
            </a:r>
          </a:p>
          <a:p>
            <a:pPr>
              <a:defRPr sz="1600"/>
            </a:pPr>
            <a:r>
              <a:t>政府教育單位:1004 篇(佔可歸類 20.1%)</a:t>
            </a:r>
          </a:p>
          <a:p>
            <a:pPr>
              <a:defRPr sz="1600"/>
            </a:pPr>
            <a:r>
              <a:t>金融業:939 篇(佔可歸類 18.8%)</a:t>
            </a:r>
          </a:p>
          <a:p>
            <a:pPr>
              <a:defRPr sz="1600"/>
            </a:pPr>
            <a:r>
              <a:t>最熱主題:AI 與自動化(1055 篇)、地緣政治與供應鏈(443 篇)、利率與資金環境(375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119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590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Meta:疑似負面 14 篇(命中:下架、判賠、求償、罰鍰)</a:t>
            </a:r>
          </a:p>
          <a:p>
            <a:pPr>
              <a:defRPr sz="1600"/>
            </a:pPr>
            <a:r>
              <a:t>美光:疑似負面 13 篇(命中:罷工)</a:t>
            </a:r>
          </a:p>
          <a:p>
            <a:pPr>
              <a:defRPr sz="1600"/>
            </a:pPr>
            <a:r>
              <a:t>Google:疑似負面 8 篇(命中:下架、裁員、詐騙)</a:t>
            </a:r>
          </a:p>
          <a:p>
            <a:pPr>
              <a:defRPr sz="1600"/>
            </a:pPr>
            <a:r>
              <a:t>Uber:疑似負面 3 篇(命中:裁員)</a:t>
            </a:r>
          </a:p>
          <a:p>
            <a:pPr>
              <a:defRPr sz="1600"/>
            </a:pPr>
            <a:r>
              <a:t>中華電信:疑似負面 2 篇(命中:工安、爆炸)</a:t>
            </a:r>
          </a:p>
          <a:p>
            <a:pPr>
              <a:defRPr sz="1600"/>
            </a:pPr>
            <a:r>
              <a:t>全聯:疑似負面 2 篇(命中:下架)</a:t>
            </a:r>
          </a:p>
          <a:p>
            <a:pPr>
              <a:defRPr sz="1600"/>
            </a:pPr>
            <a:r>
              <a:t>台積電:疑似負面 2 篇(命中:下架、掏空、詐騙)</a:t>
            </a:r>
          </a:p>
          <a:p>
            <a:pPr>
              <a:defRPr sz="1600"/>
            </a:pPr>
            <a:r>
              <a:t>國泰金:疑似負面 2 篇(命中:裁罰、詐欺)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