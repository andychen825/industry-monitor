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住宿及餐飲業</c:v>
                </c:pt>
                <c:pt idx="4">
                  <c:v>專業科學及技術服務業</c:v>
                </c:pt>
                <c:pt idx="5">
                  <c:v>服務業</c:v>
                </c:pt>
                <c:pt idx="6">
                  <c:v>資通訊業</c:v>
                </c:pt>
                <c:pt idx="7">
                  <c:v>醫療保健業</c:v>
                </c:pt>
                <c:pt idx="8">
                  <c:v>金融業</c:v>
                </c:pt>
                <c:pt idx="9">
                  <c:v>政府教育單位</c:v>
                </c:pt>
                <c:pt idx="10">
                  <c:v>高科技製造業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44</c:v>
                </c:pt>
                <c:pt idx="1">
                  <c:v>119</c:v>
                </c:pt>
                <c:pt idx="2">
                  <c:v>208</c:v>
                </c:pt>
                <c:pt idx="3">
                  <c:v>259</c:v>
                </c:pt>
                <c:pt idx="4">
                  <c:v>302</c:v>
                </c:pt>
                <c:pt idx="5">
                  <c:v>309</c:v>
                </c:pt>
                <c:pt idx="6">
                  <c:v>319</c:v>
                </c:pt>
                <c:pt idx="7">
                  <c:v>373</c:v>
                </c:pt>
                <c:pt idx="8">
                  <c:v>780</c:v>
                </c:pt>
                <c:pt idx="9">
                  <c:v>897</c:v>
                </c:pt>
                <c:pt idx="10">
                  <c:v>1080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微星</c:v>
                </c:pt>
                <c:pt idx="3">
                  <c:v>HP</c:v>
                </c:pt>
                <c:pt idx="4">
                  <c:v>聯想</c:v>
                </c:pt>
                <c:pt idx="5">
                  <c:v>戴爾</c:v>
                </c:pt>
                <c:pt idx="6">
                  <c:v>技嘉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</c:v>
                </c:pt>
                <c:pt idx="1">
                  <c:v>27</c:v>
                </c:pt>
                <c:pt idx="2">
                  <c:v>12</c:v>
                </c:pt>
                <c:pt idx="3">
                  <c:v>11</c:v>
                </c:pt>
                <c:pt idx="4">
                  <c:v>10</c:v>
                </c:pt>
                <c:pt idx="5">
                  <c:v>10</c:v>
                </c:pt>
                <c:pt idx="6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微星</c:v>
                </c:pt>
                <c:pt idx="3">
                  <c:v>HP</c:v>
                </c:pt>
                <c:pt idx="4">
                  <c:v>聯想</c:v>
                </c:pt>
                <c:pt idx="5">
                  <c:v>戴爾</c:v>
                </c:pt>
                <c:pt idx="6">
                  <c:v>技嘉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</c:v>
                </c:pt>
                <c:pt idx="1">
                  <c:v>45</c:v>
                </c:pt>
                <c:pt idx="2">
                  <c:v>13</c:v>
                </c:pt>
                <c:pt idx="3">
                  <c:v>8</c:v>
                </c:pt>
                <c:pt idx="4">
                  <c:v>14</c:v>
                </c:pt>
                <c:pt idx="5">
                  <c:v>16</c:v>
                </c:pt>
                <c:pt idx="6">
                  <c:v>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三星</c:v>
                </c:pt>
                <c:pt idx="2">
                  <c:v>輝達</c:v>
                </c:pt>
                <c:pt idx="3">
                  <c:v>聯發科</c:v>
                </c:pt>
                <c:pt idx="4">
                  <c:v>英特爾</c:v>
                </c:pt>
                <c:pt idx="5">
                  <c:v>超微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176</c:v>
                </c:pt>
                <c:pt idx="1">
                  <c:v>78</c:v>
                </c:pt>
                <c:pt idx="2">
                  <c:v>75</c:v>
                </c:pt>
                <c:pt idx="3">
                  <c:v>55</c:v>
                </c:pt>
                <c:pt idx="4">
                  <c:v>28</c:v>
                </c:pt>
                <c:pt idx="5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三星</c:v>
                </c:pt>
                <c:pt idx="2">
                  <c:v>輝達</c:v>
                </c:pt>
                <c:pt idx="3">
                  <c:v>聯發科</c:v>
                </c:pt>
                <c:pt idx="4">
                  <c:v>英特爾</c:v>
                </c:pt>
                <c:pt idx="5">
                  <c:v>超微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262</c:v>
                </c:pt>
                <c:pt idx="1">
                  <c:v>46</c:v>
                </c:pt>
                <c:pt idx="2">
                  <c:v>147</c:v>
                </c:pt>
                <c:pt idx="3">
                  <c:v>109</c:v>
                </c:pt>
                <c:pt idx="4">
                  <c:v>18</c:v>
                </c:pt>
                <c:pt idx="5">
                  <c:v>21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報告期間:2026-09-07 ~ 2026-09-14</a:t>
            </a:r>
          </a:p>
          <a:p>
            <a:r>
              <a:t>產出:2026-09-14 13:40(台北時間)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9564 篇公開報導,可歸類 4690 篇</a:t>
            </a:r>
          </a:p>
          <a:p>
            <a:pPr>
              <a:defRPr sz="1600"/>
            </a:pPr>
            <a:r>
              <a:t>高科技製造業:1080 篇(佔可歸類 23.0%)</a:t>
            </a:r>
          </a:p>
          <a:p>
            <a:pPr>
              <a:defRPr sz="1600"/>
            </a:pPr>
            <a:r>
              <a:t>政府教育單位:897 篇(佔可歸類 19.1%)</a:t>
            </a:r>
          </a:p>
          <a:p>
            <a:pPr>
              <a:defRPr sz="1600"/>
            </a:pPr>
            <a:r>
              <a:t>金融業:780 篇(佔可歸類 16.6%)</a:t>
            </a:r>
          </a:p>
          <a:p>
            <a:pPr>
              <a:defRPr sz="1600"/>
            </a:pPr>
            <a:r>
              <a:t>最熱主題:AI 與自動化(894 篇)、利率與資金環境(369 篇)、地緣政治與供應鏈(296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107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433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foodpanda:疑似負面 9 篇(命中:罰鍰、違法、違規)</a:t>
            </a:r>
          </a:p>
          <a:p>
            <a:pPr>
              <a:defRPr sz="1600"/>
            </a:pPr>
            <a:r>
              <a:t>Google:疑似負面 8 篇(命中:抵制、罰款、裁員、駭客)</a:t>
            </a:r>
          </a:p>
          <a:p>
            <a:pPr>
              <a:defRPr sz="1600"/>
            </a:pPr>
            <a:r>
              <a:t>蘋果:疑似負面 7 篇(命中:下架、停工、抄襲、缺陷)</a:t>
            </a:r>
          </a:p>
          <a:p>
            <a:pPr>
              <a:defRPr sz="1600"/>
            </a:pPr>
            <a:r>
              <a:t>Meta:疑似負面 7 篇(命中:工安、詐欺、詐騙、跳票)</a:t>
            </a:r>
          </a:p>
          <a:p>
            <a:pPr>
              <a:defRPr sz="1600"/>
            </a:pPr>
            <a:r>
              <a:t>美光:疑似負面 4 篇(命中:罷工)</a:t>
            </a:r>
          </a:p>
          <a:p>
            <a:pPr>
              <a:defRPr sz="1600"/>
            </a:pPr>
            <a:r>
              <a:t>三星:疑似負面 3 篇(命中:召回、外洩、抄襲、瑕疵)</a:t>
            </a:r>
          </a:p>
          <a:p>
            <a:pPr>
              <a:defRPr sz="1600"/>
            </a:pPr>
            <a:r>
              <a:t>味全:疑似負面 3 篇(命中:罰款)</a:t>
            </a:r>
          </a:p>
          <a:p>
            <a:pPr>
              <a:defRPr sz="1600"/>
            </a:pPr>
            <a:r>
              <a:t>兆豐金:疑似負面 2 篇(命中:詐騙)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