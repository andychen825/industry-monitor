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專業科學及技術服務業</c:v>
                </c:pt>
                <c:pt idx="5">
                  <c:v>服務業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46</c:v>
                </c:pt>
                <c:pt idx="1">
                  <c:v>126</c:v>
                </c:pt>
                <c:pt idx="2">
                  <c:v>213</c:v>
                </c:pt>
                <c:pt idx="3">
                  <c:v>271</c:v>
                </c:pt>
                <c:pt idx="4">
                  <c:v>315</c:v>
                </c:pt>
                <c:pt idx="5">
                  <c:v>332</c:v>
                </c:pt>
                <c:pt idx="6">
                  <c:v>333</c:v>
                </c:pt>
                <c:pt idx="7">
                  <c:v>385</c:v>
                </c:pt>
                <c:pt idx="8">
                  <c:v>814</c:v>
                </c:pt>
                <c:pt idx="9">
                  <c:v>936</c:v>
                </c:pt>
                <c:pt idx="10">
                  <c:v>1108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微星</c:v>
                </c:pt>
                <c:pt idx="3">
                  <c:v>HP</c:v>
                </c:pt>
                <c:pt idx="4">
                  <c:v>聯想</c:v>
                </c:pt>
                <c:pt idx="5">
                  <c:v>戴爾</c:v>
                </c:pt>
                <c:pt idx="6">
                  <c:v>技嘉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</c:v>
                </c:pt>
                <c:pt idx="1">
                  <c:v>27</c:v>
                </c:pt>
                <c:pt idx="2">
                  <c:v>13</c:v>
                </c:pt>
                <c:pt idx="3">
                  <c:v>11</c:v>
                </c:pt>
                <c:pt idx="4">
                  <c:v>10</c:v>
                </c:pt>
                <c:pt idx="5">
                  <c:v>10</c:v>
                </c:pt>
                <c:pt idx="6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微星</c:v>
                </c:pt>
                <c:pt idx="3">
                  <c:v>HP</c:v>
                </c:pt>
                <c:pt idx="4">
                  <c:v>聯想</c:v>
                </c:pt>
                <c:pt idx="5">
                  <c:v>戴爾</c:v>
                </c:pt>
                <c:pt idx="6">
                  <c:v>技嘉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</c:v>
                </c:pt>
                <c:pt idx="1">
                  <c:v>45</c:v>
                </c:pt>
                <c:pt idx="2">
                  <c:v>13</c:v>
                </c:pt>
                <c:pt idx="3">
                  <c:v>8</c:v>
                </c:pt>
                <c:pt idx="4">
                  <c:v>14</c:v>
                </c:pt>
                <c:pt idx="5">
                  <c:v>16</c:v>
                </c:pt>
                <c:pt idx="6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三星</c:v>
                </c:pt>
                <c:pt idx="2">
                  <c:v>輝達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</c:v>
                </c:pt>
                <c:pt idx="1">
                  <c:v>83</c:v>
                </c:pt>
                <c:pt idx="2">
                  <c:v>78</c:v>
                </c:pt>
                <c:pt idx="3">
                  <c:v>55</c:v>
                </c:pt>
                <c:pt idx="4">
                  <c:v>28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三星</c:v>
                </c:pt>
                <c:pt idx="2">
                  <c:v>輝達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262</c:v>
                </c:pt>
                <c:pt idx="1">
                  <c:v>46</c:v>
                </c:pt>
                <c:pt idx="2">
                  <c:v>147</c:v>
                </c:pt>
                <c:pt idx="3">
                  <c:v>109</c:v>
                </c:pt>
                <c:pt idx="4">
                  <c:v>18</c:v>
                </c:pt>
                <c:pt idx="5">
                  <c:v>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報告期間:2026-09-07 ~ 2026-09-14</a:t>
            </a:r>
          </a:p>
          <a:p>
            <a:r>
              <a:t>產出:2026-09-14 17:52(台北時間)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9938 篇公開報導,可歸類 4879 篇</a:t>
            </a:r>
          </a:p>
          <a:p>
            <a:pPr>
              <a:defRPr sz="1600"/>
            </a:pPr>
            <a:r>
              <a:t>高科技製造業:1108 篇(佔可歸類 22.7%)</a:t>
            </a:r>
          </a:p>
          <a:p>
            <a:pPr>
              <a:defRPr sz="1600"/>
            </a:pPr>
            <a:r>
              <a:t>政府教育單位:936 篇(佔可歸類 19.2%)</a:t>
            </a:r>
          </a:p>
          <a:p>
            <a:pPr>
              <a:defRPr sz="1600"/>
            </a:pPr>
            <a:r>
              <a:t>金融業:814 篇(佔可歸類 16.7%)</a:t>
            </a:r>
          </a:p>
          <a:p>
            <a:pPr>
              <a:defRPr sz="1600"/>
            </a:pPr>
            <a:r>
              <a:t>最熱主題:AI 與自動化(940 篇)、利率與資金環境(385 篇)、地緣政治與供應鏈(312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108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449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foodpanda:疑似負面 10 篇(命中:罰鍰、違法、違規)</a:t>
            </a:r>
          </a:p>
          <a:p>
            <a:pPr>
              <a:defRPr sz="1600"/>
            </a:pPr>
            <a:r>
              <a:t>Meta:疑似負面 8 篇(命中:工安、詐欺、詐騙、起訴)</a:t>
            </a:r>
          </a:p>
          <a:p>
            <a:pPr>
              <a:defRPr sz="1600"/>
            </a:pPr>
            <a:r>
              <a:t>Google:疑似負面 8 篇(命中:抵制、罰款、裁員、駭客)</a:t>
            </a:r>
          </a:p>
          <a:p>
            <a:pPr>
              <a:defRPr sz="1600"/>
            </a:pPr>
            <a:r>
              <a:t>蘋果:疑似負面 7 篇(命中:下架、停工、抄襲、缺陷)</a:t>
            </a:r>
          </a:p>
          <a:p>
            <a:pPr>
              <a:defRPr sz="1600"/>
            </a:pPr>
            <a:r>
              <a:t>美光:疑似負面 4 篇(命中:罷工)</a:t>
            </a:r>
          </a:p>
          <a:p>
            <a:pPr>
              <a:defRPr sz="1600"/>
            </a:pPr>
            <a:r>
              <a:t>三星:疑似負面 3 篇(命中:召回、外洩、抄襲、瑕疵)</a:t>
            </a:r>
          </a:p>
          <a:p>
            <a:pPr>
              <a:defRPr sz="1600"/>
            </a:pPr>
            <a:r>
              <a:t>味全:疑似負面 3 篇(命中:罰款)</a:t>
            </a:r>
          </a:p>
          <a:p>
            <a:pPr>
              <a:defRPr sz="1600"/>
            </a:pPr>
            <a:r>
              <a:t>兆豐金:疑似負面 2 篇(命中:詐騙)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