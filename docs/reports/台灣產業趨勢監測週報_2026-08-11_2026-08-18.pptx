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專業科學及技術服務業</c:v>
                </c:pt>
                <c:pt idx="3">
                  <c:v>住宿及餐飲業</c:v>
                </c:pt>
                <c:pt idx="4">
                  <c:v>批發零售業</c:v>
                </c:pt>
                <c:pt idx="5">
                  <c:v>服務業</c:v>
                </c:pt>
                <c:pt idx="6">
                  <c:v>資通訊業</c:v>
                </c:pt>
                <c:pt idx="7">
                  <c:v>醫療保健業</c:v>
                </c:pt>
                <c:pt idx="8">
                  <c:v>金融業</c:v>
                </c:pt>
                <c:pt idx="9">
                  <c:v>政府教育單位</c:v>
                </c:pt>
                <c:pt idx="10">
                  <c:v>高科技製造業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</c:v>
                </c:pt>
                <c:pt idx="1">
                  <c:v>26</c:v>
                </c:pt>
                <c:pt idx="2">
                  <c:v>51</c:v>
                </c:pt>
                <c:pt idx="3">
                  <c:v>58</c:v>
                </c:pt>
                <c:pt idx="4">
                  <c:v>67</c:v>
                </c:pt>
                <c:pt idx="5">
                  <c:v>70</c:v>
                </c:pt>
                <c:pt idx="6">
                  <c:v>89</c:v>
                </c:pt>
                <c:pt idx="7">
                  <c:v>138</c:v>
                </c:pt>
                <c:pt idx="8">
                  <c:v>194</c:v>
                </c:pt>
                <c:pt idx="9">
                  <c:v>255</c:v>
                </c:pt>
                <c:pt idx="10">
                  <c:v>263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技嘉</c:v>
                </c:pt>
                <c:pt idx="2">
                  <c:v>華碩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技嘉</c:v>
                </c:pt>
                <c:pt idx="2">
                  <c:v>華碩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</c:v>
                </c:pt>
                <c:pt idx="1">
                  <c:v>2</c:v>
                </c:pt>
                <c:pt idx="2">
                  <c:v>8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英特爾</c:v>
                </c:pt>
                <c:pt idx="5">
                  <c:v>超微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</c:v>
                </c:pt>
                <c:pt idx="1">
                  <c:v>23</c:v>
                </c:pt>
                <c:pt idx="2">
                  <c:v>18</c:v>
                </c:pt>
                <c:pt idx="3">
                  <c:v>10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英特爾</c:v>
                </c:pt>
                <c:pt idx="5">
                  <c:v>超微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127</c:v>
                </c:pt>
                <c:pt idx="1">
                  <c:v>38</c:v>
                </c:pt>
                <c:pt idx="2">
                  <c:v>31</c:v>
                </c:pt>
                <c:pt idx="3">
                  <c:v>18</c:v>
                </c:pt>
                <c:pt idx="4">
                  <c:v>12</c:v>
                </c:pt>
                <c:pt idx="5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報告期間:2026-08-11 ~ 2026-08-18</a:t>
            </a:r>
          </a:p>
          <a:p>
            <a:r>
              <a:t>產出:2026-08-18 10:37(台北時間)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2258 篇公開報導,可歸類 1227 篇</a:t>
            </a:r>
          </a:p>
          <a:p>
            <a:pPr>
              <a:defRPr sz="1600"/>
            </a:pPr>
            <a:r>
              <a:t>高科技製造業:263 篇(佔可歸類 21.4%)</a:t>
            </a:r>
          </a:p>
          <a:p>
            <a:pPr>
              <a:defRPr sz="1600"/>
            </a:pPr>
            <a:r>
              <a:t>政府教育單位:255 篇(佔可歸類 20.8%)</a:t>
            </a:r>
          </a:p>
          <a:p>
            <a:pPr>
              <a:defRPr sz="1600"/>
            </a:pPr>
            <a:r>
              <a:t>金融業:194 篇(佔可歸類 15.8%)</a:t>
            </a:r>
          </a:p>
          <a:p>
            <a:pPr>
              <a:defRPr sz="1600"/>
            </a:pPr>
            <a:r>
              <a:t>最熱主題:AI 與自動化(276 篇)、利率與資金環境(120 篇)、地緣政治與供應鏈(61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11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118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BNT:疑似負面 10 篇(命中:詐騙、起訴)</a:t>
            </a:r>
          </a:p>
          <a:p>
            <a:pPr>
              <a:defRPr sz="1600"/>
            </a:pPr>
            <a:r>
              <a:t>合庫金:疑似負面 8 篇(命中:罰鍰、裁罰、違法)</a:t>
            </a:r>
          </a:p>
          <a:p>
            <a:pPr>
              <a:defRPr sz="1600"/>
            </a:pPr>
            <a:r>
              <a:t>台大:疑似負面 3 篇(命中:下架、起訴)</a:t>
            </a:r>
          </a:p>
          <a:p>
            <a:pPr>
              <a:defRPr sz="1600"/>
            </a:pPr>
            <a:r>
              <a:t>鴻海:疑似負面 3 篇(命中:起訴)</a:t>
            </a:r>
          </a:p>
          <a:p>
            <a:pPr>
              <a:defRPr sz="1600"/>
            </a:pPr>
            <a:r>
              <a:t>華航:疑似負面 2 篇(命中:工安)</a:t>
            </a:r>
          </a:p>
          <a:p>
            <a:pPr>
              <a:defRPr sz="1600"/>
            </a:pPr>
            <a:r>
              <a:t>三星:疑似負面 2 篇(命中:下架、缺陷)</a:t>
            </a:r>
          </a:p>
          <a:p>
            <a:pPr>
              <a:defRPr sz="1600"/>
            </a:pPr>
            <a:r>
              <a:t>長庚:疑似負面 1 篇(命中:詐騙)</a:t>
            </a:r>
          </a:p>
          <a:p>
            <a:pPr>
              <a:defRPr sz="1600"/>
            </a:pPr>
            <a:r>
              <a:t>Meta:疑似負面 1 篇(命中:下架)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