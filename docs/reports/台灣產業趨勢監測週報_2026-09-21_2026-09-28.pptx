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篇數</c:v>
                </c:pt>
              </c:strCache>
            </c:strRef>
          </c:tx>
          <c:cat>
            <c:strRef>
              <c:f>Sheet1!$A$2:$A$12</c:f>
              <c:strCache>
                <c:ptCount val="11"/>
                <c:pt idx="0">
                  <c:v>保險業</c:v>
                </c:pt>
                <c:pt idx="1">
                  <c:v>傳統製造業</c:v>
                </c:pt>
                <c:pt idx="2">
                  <c:v>批發零售業</c:v>
                </c:pt>
                <c:pt idx="3">
                  <c:v>專業科學及技術服務業</c:v>
                </c:pt>
                <c:pt idx="4">
                  <c:v>服務業</c:v>
                </c:pt>
                <c:pt idx="5">
                  <c:v>醫療保健業</c:v>
                </c:pt>
                <c:pt idx="6">
                  <c:v>住宿及餐飲業</c:v>
                </c:pt>
                <c:pt idx="7">
                  <c:v>資通訊業</c:v>
                </c:pt>
                <c:pt idx="8">
                  <c:v>政府教育單位</c:v>
                </c:pt>
                <c:pt idx="9">
                  <c:v>金融業</c:v>
                </c:pt>
                <c:pt idx="10">
                  <c:v>高科技製造業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83</c:v>
                </c:pt>
                <c:pt idx="1">
                  <c:v>155</c:v>
                </c:pt>
                <c:pt idx="2">
                  <c:v>188</c:v>
                </c:pt>
                <c:pt idx="3">
                  <c:v>196</c:v>
                </c:pt>
                <c:pt idx="4">
                  <c:v>223</c:v>
                </c:pt>
                <c:pt idx="5">
                  <c:v>271</c:v>
                </c:pt>
                <c:pt idx="6">
                  <c:v>312</c:v>
                </c:pt>
                <c:pt idx="7">
                  <c:v>336</c:v>
                </c:pt>
                <c:pt idx="8">
                  <c:v>717</c:v>
                </c:pt>
                <c:pt idx="9">
                  <c:v>745</c:v>
                </c:pt>
                <c:pt idx="10">
                  <c:v>773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宏碁</c:v>
                </c:pt>
                <c:pt idx="1">
                  <c:v>華碩</c:v>
                </c:pt>
                <c:pt idx="2">
                  <c:v>聯想</c:v>
                </c:pt>
                <c:pt idx="3">
                  <c:v>HP</c:v>
                </c:pt>
                <c:pt idx="4">
                  <c:v>戴爾</c:v>
                </c:pt>
                <c:pt idx="5">
                  <c:v>技嘉</c:v>
                </c:pt>
                <c:pt idx="6">
                  <c:v>微星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</c:v>
                </c:pt>
                <c:pt idx="1">
                  <c:v>16</c:v>
                </c:pt>
                <c:pt idx="2">
                  <c:v>10</c:v>
                </c:pt>
                <c:pt idx="3">
                  <c:v>10</c:v>
                </c:pt>
                <c:pt idx="4">
                  <c:v>9</c:v>
                </c:pt>
                <c:pt idx="5">
                  <c:v>6</c:v>
                </c:pt>
                <c:pt idx="6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宏碁</c:v>
                </c:pt>
                <c:pt idx="1">
                  <c:v>華碩</c:v>
                </c:pt>
                <c:pt idx="2">
                  <c:v>聯想</c:v>
                </c:pt>
                <c:pt idx="3">
                  <c:v>HP</c:v>
                </c:pt>
                <c:pt idx="4">
                  <c:v>戴爾</c:v>
                </c:pt>
                <c:pt idx="5">
                  <c:v>技嘉</c:v>
                </c:pt>
                <c:pt idx="6">
                  <c:v>微星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44</c:v>
                </c:pt>
                <c:pt idx="1">
                  <c:v>17</c:v>
                </c:pt>
                <c:pt idx="2">
                  <c:v>18</c:v>
                </c:pt>
                <c:pt idx="3">
                  <c:v>4</c:v>
                </c:pt>
                <c:pt idx="4">
                  <c:v>9</c:v>
                </c:pt>
                <c:pt idx="5">
                  <c:v>7</c:v>
                </c:pt>
                <c:pt idx="6">
                  <c:v>11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本期篇數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聯發科</c:v>
                </c:pt>
                <c:pt idx="3">
                  <c:v>英特爾</c:v>
                </c:pt>
                <c:pt idx="4">
                  <c:v>三星</c:v>
                </c:pt>
                <c:pt idx="5">
                  <c:v>超微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</c:v>
                </c:pt>
                <c:pt idx="1">
                  <c:v>98</c:v>
                </c:pt>
                <c:pt idx="2">
                  <c:v>58</c:v>
                </c:pt>
                <c:pt idx="3">
                  <c:v>28</c:v>
                </c:pt>
                <c:pt idx="4">
                  <c:v>26</c:v>
                </c:pt>
                <c:pt idx="5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前期篇數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台積電</c:v>
                </c:pt>
                <c:pt idx="1">
                  <c:v>輝達</c:v>
                </c:pt>
                <c:pt idx="2">
                  <c:v>聯發科</c:v>
                </c:pt>
                <c:pt idx="3">
                  <c:v>英特爾</c:v>
                </c:pt>
                <c:pt idx="4">
                  <c:v>三星</c:v>
                </c:pt>
                <c:pt idx="5">
                  <c:v>超微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215</c:v>
                </c:pt>
                <c:pt idx="1">
                  <c:v>118</c:v>
                </c:pt>
                <c:pt idx="2">
                  <c:v>58</c:v>
                </c:pt>
                <c:pt idx="3">
                  <c:v>48</c:v>
                </c:pt>
                <c:pt idx="4">
                  <c:v>36</c:v>
                </c:pt>
                <c:pt idx="5">
                  <c:v>24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台灣產業趨勢監測週報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報告期間:2026-09-21 ~ 2026-09-28</a:t>
            </a:r>
          </a:p>
          <a:p>
            <a:r>
              <a:t>產出:2026-09-28 14:11(台北時間)</a:t>
            </a:r>
          </a:p>
          <a:p>
            <a:r>
              <a:t>資料來源:公開新聞媒體與官方開放資料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總體結論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本期共蒐集 8414 篇公開報導,可歸類 3999 篇</a:t>
            </a:r>
          </a:p>
          <a:p>
            <a:pPr>
              <a:defRPr sz="1600"/>
            </a:pPr>
            <a:r>
              <a:t>高科技製造業:773 篇(佔可歸類 19.3%)</a:t>
            </a:r>
          </a:p>
          <a:p>
            <a:pPr>
              <a:defRPr sz="1600"/>
            </a:pPr>
            <a:r>
              <a:t>金融業:745 篇(佔可歸類 18.6%)</a:t>
            </a:r>
          </a:p>
          <a:p>
            <a:pPr>
              <a:defRPr sz="1600"/>
            </a:pPr>
            <a:r>
              <a:t>政府教育單位:717 篇(佔可歸類 17.9%)</a:t>
            </a:r>
          </a:p>
          <a:p>
            <a:pPr>
              <a:defRPr sz="1600"/>
            </a:pPr>
            <a:r>
              <a:t>最熱主題:AI 與自動化(818 篇)、利率與資金環境(313 篇)、地緣政治與供應鏈(294 篇)</a:t>
            </a:r>
          </a:p>
          <a:p>
            <a:pPr>
              <a:defRPr sz="1600"/>
            </a:pPr>
            <a:r>
              <a:t>※ 本頁由系統統計自動生成,數據可溯源至報導原文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各產業報導篇數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電腦品牌(合計 84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競品聲量對比(SOV)— 半導體(合計 415 篇)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80467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負面聲量警示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美光:疑似負面 10 篇(命中:罷工)</a:t>
            </a:r>
          </a:p>
          <a:p>
            <a:pPr>
              <a:defRPr sz="1600"/>
            </a:pPr>
            <a:r>
              <a:t>Meta:疑似負面 8 篇(命中:火災、罰款、罰鍰、裁罰)</a:t>
            </a:r>
          </a:p>
          <a:p>
            <a:pPr>
              <a:defRPr sz="1600"/>
            </a:pPr>
            <a:r>
              <a:t>合庫金:疑似負面 6 篇(命中:外洩、工安、違法、違規)</a:t>
            </a:r>
          </a:p>
          <a:p>
            <a:pPr>
              <a:defRPr sz="1600"/>
            </a:pPr>
            <a:r>
              <a:t>新光人壽:疑似負面 5 篇(命中:罰鍰、裁罰)</a:t>
            </a:r>
          </a:p>
          <a:p>
            <a:pPr>
              <a:defRPr sz="1600"/>
            </a:pPr>
            <a:r>
              <a:t>台灣人壽:疑似負面 5 篇(命中:罰鍰、裁罰、違規)</a:t>
            </a:r>
          </a:p>
          <a:p>
            <a:pPr>
              <a:defRPr sz="1600"/>
            </a:pPr>
            <a:r>
              <a:t>蘋果:疑似負面 2 篇(命中:抄襲、裁員)</a:t>
            </a:r>
          </a:p>
          <a:p>
            <a:pPr>
              <a:defRPr sz="1600"/>
            </a:pPr>
            <a:r>
              <a:t>新光金:疑似負面 2 篇(命中:裁罰)</a:t>
            </a:r>
          </a:p>
          <a:p>
            <a:pPr>
              <a:defRPr sz="1600"/>
            </a:pPr>
            <a:r>
              <a:t>家樂福:疑似負面 2 篇(命中:判賠、求償、火災)</a:t>
            </a:r>
          </a:p>
          <a:p>
            <a:pPr>
              <a:defRPr sz="1600"/>
            </a:pPr>
            <a:r>
              <a:t>※ 規則式偵測僅供初步示警,請人工確認報導立場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